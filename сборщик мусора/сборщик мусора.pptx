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8" r:id="rId4"/>
    <p:sldId id="296" r:id="rId5"/>
    <p:sldId id="297" r:id="rId6"/>
    <p:sldId id="298" r:id="rId7"/>
    <p:sldId id="299" r:id="rId8"/>
    <p:sldId id="300" r:id="rId9"/>
    <p:sldId id="301" r:id="rId10"/>
  </p:sldIdLst>
  <p:sldSz cx="9144000" cy="5143500" type="screen16x9"/>
  <p:notesSz cx="6858000" cy="9144000"/>
  <p:embeddedFontLst>
    <p:embeddedFont>
      <p:font typeface="Assistant" pitchFamily="2" charset="-79"/>
      <p:regular r:id="rId12"/>
    </p:embeddedFont>
    <p:embeddedFont>
      <p:font typeface="Sora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61723E-F602-4E68-BEEE-56550B0D61C5}">
  <a:tblStyle styleId="{6A61723E-F602-4E68-BEEE-56550B0D61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3DF223F-8277-415A-9B6C-12780CD7A5A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976" autoAdjust="0"/>
  </p:normalViewPr>
  <p:slideViewPr>
    <p:cSldViewPr snapToGrid="0">
      <p:cViewPr varScale="1">
        <p:scale>
          <a:sx n="107" d="100"/>
          <a:sy n="107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29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1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49:35.9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450DA740-200F-9278-3BA6-EA3076A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588FDB22-A45C-6344-9D18-12A9D044A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AF01AB9E-E19D-7483-E7BE-2B6D5A6F8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392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D4C36DF-C62C-E8B6-AA14-E7A8686B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39A0D7A0-F07E-4C21-30A8-9C8E0B18D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1BC77BCD-10D3-7888-4773-4F07A7469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63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B822713F-7434-BCA8-0C77-C65DE7DD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FA93D132-4C2B-C432-884D-28803B3E1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82C3B61B-E064-7D51-FD1C-8A0206A3F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778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BEB5842C-9F74-DD1E-7148-7EC21C71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F360F339-1DE7-0DD6-A504-D3F73DF4C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EAE7289E-0176-26F4-ACD6-1030D5398B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132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2B4121BA-6949-1F2D-7860-C54C8E11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7634E8CC-92F8-4A55-A6B1-38FF6B412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914EFCD4-8F52-27AC-ADA8-8FE892BD1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270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>
          <a:extLst>
            <a:ext uri="{FF2B5EF4-FFF2-40B4-BE49-F238E27FC236}">
              <a16:creationId xmlns:a16="http://schemas.microsoft.com/office/drawing/2014/main" id="{A6249A0F-2D9C-8801-7AE1-38A10B23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ff18b49f31_1_34:notes">
            <a:extLst>
              <a:ext uri="{FF2B5EF4-FFF2-40B4-BE49-F238E27FC236}">
                <a16:creationId xmlns:a16="http://schemas.microsoft.com/office/drawing/2014/main" id="{892DB4AE-A471-62FD-4D74-47269A8E4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ff18b49f31_1_34:notes">
            <a:extLst>
              <a:ext uri="{FF2B5EF4-FFF2-40B4-BE49-F238E27FC236}">
                <a16:creationId xmlns:a16="http://schemas.microsoft.com/office/drawing/2014/main" id="{0FA6B247-27EC-2A41-A4E6-63277DEFF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2" hasCustomPrompt="1"/>
          </p:nvPr>
        </p:nvSpPr>
        <p:spPr>
          <a:xfrm>
            <a:off x="1584389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3" hasCustomPrompt="1"/>
          </p:nvPr>
        </p:nvSpPr>
        <p:spPr>
          <a:xfrm>
            <a:off x="1584389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4" hasCustomPrompt="1"/>
          </p:nvPr>
        </p:nvSpPr>
        <p:spPr>
          <a:xfrm>
            <a:off x="4167887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5" hasCustomPrompt="1"/>
          </p:nvPr>
        </p:nvSpPr>
        <p:spPr>
          <a:xfrm>
            <a:off x="4167887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6" hasCustomPrompt="1"/>
          </p:nvPr>
        </p:nvSpPr>
        <p:spPr>
          <a:xfrm>
            <a:off x="6751411" y="1536713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7" hasCustomPrompt="1"/>
          </p:nvPr>
        </p:nvSpPr>
        <p:spPr>
          <a:xfrm>
            <a:off x="6751411" y="3057427"/>
            <a:ext cx="808200" cy="64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"/>
          </p:nvPr>
        </p:nvSpPr>
        <p:spPr>
          <a:xfrm>
            <a:off x="719939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8"/>
          </p:nvPr>
        </p:nvSpPr>
        <p:spPr>
          <a:xfrm>
            <a:off x="3303437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5886961" y="2107006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3"/>
          </p:nvPr>
        </p:nvSpPr>
        <p:spPr>
          <a:xfrm>
            <a:off x="719939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4"/>
          </p:nvPr>
        </p:nvSpPr>
        <p:spPr>
          <a:xfrm>
            <a:off x="3303437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886961" y="3627737"/>
            <a:ext cx="25371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58" name="Google Shape;258;p13"/>
          <p:cNvGrpSpPr/>
          <p:nvPr/>
        </p:nvGrpSpPr>
        <p:grpSpPr>
          <a:xfrm>
            <a:off x="1" y="461906"/>
            <a:ext cx="8886592" cy="4508834"/>
            <a:chOff x="1" y="461906"/>
            <a:chExt cx="8886592" cy="4508834"/>
          </a:xfrm>
        </p:grpSpPr>
        <p:sp>
          <p:nvSpPr>
            <p:cNvPr id="259" name="Google Shape;259;p13"/>
            <p:cNvSpPr/>
            <p:nvPr/>
          </p:nvSpPr>
          <p:spPr>
            <a:xfrm>
              <a:off x="1" y="4246240"/>
              <a:ext cx="715200" cy="72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260" name="Google Shape;260;p13"/>
            <p:cNvGrpSpPr/>
            <p:nvPr/>
          </p:nvGrpSpPr>
          <p:grpSpPr>
            <a:xfrm>
              <a:off x="8074920" y="4608510"/>
              <a:ext cx="707960" cy="146187"/>
              <a:chOff x="7797150" y="445600"/>
              <a:chExt cx="865900" cy="178800"/>
            </a:xfrm>
          </p:grpSpPr>
          <p:sp>
            <p:nvSpPr>
              <p:cNvPr id="261" name="Google Shape;261;p1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>
              <a:off x="8428900" y="461906"/>
              <a:ext cx="457692" cy="146187"/>
              <a:chOff x="715100" y="4416700"/>
              <a:chExt cx="559800" cy="178800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dirty="0"/>
              <a:t>Сборщик мусора в </a:t>
            </a:r>
            <a:r>
              <a:rPr lang="en-US" sz="4500" dirty="0"/>
              <a:t>Java</a:t>
            </a:r>
            <a:endParaRPr sz="4000" b="0" dirty="0"/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3325831" y="3546094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Енченкова Виолетта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Структура памяти в </a:t>
            </a:r>
            <a:r>
              <a:rPr lang="en-US" dirty="0"/>
              <a:t>Java</a:t>
            </a:r>
            <a:endParaRPr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D9DA5DC-7DF5-F9BA-8E3F-3D0E3F2E58CC}"/>
              </a:ext>
            </a:extLst>
          </p:cNvPr>
          <p:cNvSpPr/>
          <p:nvPr/>
        </p:nvSpPr>
        <p:spPr>
          <a:xfrm>
            <a:off x="231648" y="1127544"/>
            <a:ext cx="8680704" cy="3895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b="1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NATIVE MEMORY</a:t>
            </a:r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EA0ED84-FB19-C087-4338-A1E1BF8669DC}"/>
              </a:ext>
            </a:extLst>
          </p:cNvPr>
          <p:cNvSpPr/>
          <p:nvPr/>
        </p:nvSpPr>
        <p:spPr>
          <a:xfrm>
            <a:off x="751320" y="1472220"/>
            <a:ext cx="7704000" cy="140810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r"/>
            <a:endParaRPr lang="ru-RU" dirty="0">
              <a:solidFill>
                <a:schemeClr val="accent2">
                  <a:lumMod val="2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accent2">
                    <a:lumMod val="25000"/>
                  </a:schemeClr>
                </a:solidFill>
              </a:rPr>
              <a:t>HEAP</a:t>
            </a:r>
            <a:r>
              <a:rPr lang="ru-RU" b="1" dirty="0">
                <a:solidFill>
                  <a:schemeClr val="accent2">
                    <a:lumMod val="25000"/>
                  </a:schemeClr>
                </a:solidFill>
              </a:rPr>
              <a:t> (куча)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D9C9070-D356-B5DE-BEC8-79A6A426FE1B}"/>
              </a:ext>
            </a:extLst>
          </p:cNvPr>
          <p:cNvSpPr/>
          <p:nvPr/>
        </p:nvSpPr>
        <p:spPr>
          <a:xfrm>
            <a:off x="1334856" y="1816989"/>
            <a:ext cx="1389888" cy="718566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EDEN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021D5BB-5B64-402C-0034-64A182613DDD}"/>
              </a:ext>
            </a:extLst>
          </p:cNvPr>
          <p:cNvSpPr/>
          <p:nvPr/>
        </p:nvSpPr>
        <p:spPr>
          <a:xfrm>
            <a:off x="2926080" y="1798701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</a:t>
            </a:r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18B1A6E-811C-3B6D-59D6-1B5B64EAB726}"/>
              </a:ext>
            </a:extLst>
          </p:cNvPr>
          <p:cNvSpPr/>
          <p:nvPr/>
        </p:nvSpPr>
        <p:spPr>
          <a:xfrm>
            <a:off x="4303944" y="1792986"/>
            <a:ext cx="1121664" cy="730758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S1</a:t>
            </a:r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B103138-DA78-454A-FA95-FFA9146AFA59}"/>
              </a:ext>
            </a:extLst>
          </p:cNvPr>
          <p:cNvSpPr/>
          <p:nvPr/>
        </p:nvSpPr>
        <p:spPr>
          <a:xfrm>
            <a:off x="5572080" y="1792986"/>
            <a:ext cx="1901616" cy="706755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</a:t>
            </a:r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B73B70F-3A72-F6DC-D639-71B6033A64CC}"/>
              </a:ext>
            </a:extLst>
          </p:cNvPr>
          <p:cNvSpPr/>
          <p:nvPr/>
        </p:nvSpPr>
        <p:spPr>
          <a:xfrm>
            <a:off x="688680" y="308457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1</a:t>
            </a:r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0D27972-EDA5-DFA3-C123-07B1DBCE1CE6}"/>
              </a:ext>
            </a:extLst>
          </p:cNvPr>
          <p:cNvSpPr/>
          <p:nvPr/>
        </p:nvSpPr>
        <p:spPr>
          <a:xfrm>
            <a:off x="2176272" y="3096769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2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E4C84AB-413A-0218-76BA-4158A4410414}"/>
              </a:ext>
            </a:extLst>
          </p:cNvPr>
          <p:cNvSpPr/>
          <p:nvPr/>
        </p:nvSpPr>
        <p:spPr>
          <a:xfrm>
            <a:off x="5425608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METASPACE</a:t>
            </a:r>
            <a:endParaRPr lang="ru-RU" dirty="0"/>
          </a:p>
          <a:p>
            <a:pPr algn="ctr"/>
            <a:r>
              <a:rPr lang="ru-RU" dirty="0"/>
              <a:t>(метаданные)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F3F393E-E256-9392-D29E-C0E8BD72F0E1}"/>
              </a:ext>
            </a:extLst>
          </p:cNvPr>
          <p:cNvSpPr/>
          <p:nvPr/>
        </p:nvSpPr>
        <p:spPr>
          <a:xfrm>
            <a:off x="3750276" y="3102865"/>
            <a:ext cx="1292352" cy="16824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THREAD </a:t>
            </a:r>
            <a:br>
              <a:rPr lang="en-US" dirty="0"/>
            </a:br>
            <a:r>
              <a:rPr lang="en-US" dirty="0"/>
              <a:t>STACK</a:t>
            </a:r>
            <a:br>
              <a:rPr lang="en-US" dirty="0"/>
            </a:br>
            <a:r>
              <a:rPr lang="en-US" dirty="0"/>
              <a:t>N</a:t>
            </a:r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990CE0F-3333-D812-6207-AA7284578274}"/>
              </a:ext>
            </a:extLst>
          </p:cNvPr>
          <p:cNvSpPr/>
          <p:nvPr/>
        </p:nvSpPr>
        <p:spPr>
          <a:xfrm>
            <a:off x="7016832" y="3096444"/>
            <a:ext cx="1542120" cy="1402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</a:t>
            </a:r>
            <a:br>
              <a:rPr lang="en-US" dirty="0"/>
            </a:br>
            <a:r>
              <a:rPr lang="en-US" dirty="0"/>
              <a:t>CACHE</a:t>
            </a: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14:cNvPr>
              <p14:cNvContentPartPr/>
              <p14:nvPr/>
            </p14:nvContentPartPr>
            <p14:xfrm>
              <a:off x="3527796" y="4015596"/>
              <a:ext cx="360" cy="36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15214522-43AA-1978-14C4-A9F3E1F7CD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979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14:cNvPr>
              <p14:cNvContentPartPr/>
              <p14:nvPr/>
            </p14:nvContentPartPr>
            <p14:xfrm>
              <a:off x="3601956" y="4015596"/>
              <a:ext cx="360" cy="360"/>
            </p14:xfrm>
          </p:contentPart>
        </mc:Choice>
        <mc:Fallback xmlns=""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431D3B23-63F4-2E7A-1BCE-E1ECA9C2E5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3956" y="399795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14:cNvPr>
              <p14:cNvContentPartPr/>
              <p14:nvPr/>
            </p14:nvContentPartPr>
            <p14:xfrm>
              <a:off x="3676116" y="4015596"/>
              <a:ext cx="360" cy="3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122EDDF1-24C8-99D7-E976-1285A776A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8116" y="399795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44552A83-A91E-8F2C-1790-7D15FD8CEF26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32336" y="960765"/>
            <a:ext cx="2537100" cy="461700"/>
          </a:xfrm>
        </p:spPr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367E7C9-C524-2FC4-07C7-AEA1A2E7BE90}"/>
              </a:ext>
            </a:extLst>
          </p:cNvPr>
          <p:cNvCxnSpPr>
            <a:cxnSpLocks/>
          </p:cNvCxnSpPr>
          <p:nvPr/>
        </p:nvCxnSpPr>
        <p:spPr>
          <a:xfrm>
            <a:off x="640273" y="1365504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563;p34">
            <a:extLst>
              <a:ext uri="{FF2B5EF4-FFF2-40B4-BE49-F238E27FC236}">
                <a16:creationId xmlns:a16="http://schemas.microsoft.com/office/drawing/2014/main" id="{673FA57F-0422-CD96-878A-CCADFD72211D}"/>
              </a:ext>
            </a:extLst>
          </p:cNvPr>
          <p:cNvSpPr txBox="1">
            <a:spLocks/>
          </p:cNvSpPr>
          <p:nvPr/>
        </p:nvSpPr>
        <p:spPr>
          <a:xfrm>
            <a:off x="642939" y="1365504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Объект, на который нет активных ссылок.</a:t>
            </a:r>
            <a:endParaRPr lang="en-US" sz="12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8A55FC3-B0CF-BC48-7E5E-BE3911F76E0F}"/>
              </a:ext>
            </a:extLst>
          </p:cNvPr>
          <p:cNvGrpSpPr/>
          <p:nvPr/>
        </p:nvGrpSpPr>
        <p:grpSpPr>
          <a:xfrm>
            <a:off x="242124" y="2130179"/>
            <a:ext cx="2822105" cy="1956799"/>
            <a:chOff x="242124" y="2130179"/>
            <a:chExt cx="2822105" cy="1956799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549242A0-A4CC-9E06-3085-B99FFBCE39E8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0F534288-B376-00E2-1A3A-CB04EC460BFD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Создаем объекты – они находятся в куче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160DCC5C-5E38-FF32-E066-9EC715CCE18C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3" name="Google Shape;563;p34">
              <a:extLst>
                <a:ext uri="{FF2B5EF4-FFF2-40B4-BE49-F238E27FC236}">
                  <a16:creationId xmlns:a16="http://schemas.microsoft.com/office/drawing/2014/main" id="{58534E3A-A05D-D3C0-56B9-2AF33E9005A5}"/>
                </a:ext>
              </a:extLst>
            </p:cNvPr>
            <p:cNvSpPr txBox="1">
              <a:spLocks/>
            </p:cNvSpPr>
            <p:nvPr/>
          </p:nvSpPr>
          <p:spPr>
            <a:xfrm>
              <a:off x="605907" y="3005108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Убираем ссылку (=</a:t>
              </a:r>
              <a:r>
                <a:rPr lang="en-US" sz="1200" b="0" dirty="0"/>
                <a:t>null) – </a:t>
              </a:r>
              <a:r>
                <a:rPr lang="ru-RU" sz="1200" b="0" dirty="0"/>
                <a:t>объект становится мусором</a:t>
              </a:r>
            </a:p>
            <a:p>
              <a:endParaRPr lang="en-US" sz="1200" dirty="0"/>
            </a:p>
          </p:txBody>
        </p:sp>
        <p:sp>
          <p:nvSpPr>
            <p:cNvPr id="534" name="Google Shape;563;p34">
              <a:extLst>
                <a:ext uri="{FF2B5EF4-FFF2-40B4-BE49-F238E27FC236}">
                  <a16:creationId xmlns:a16="http://schemas.microsoft.com/office/drawing/2014/main" id="{88423F38-D21C-F355-775A-4AA760D2954B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3481951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Сборщик мусора </a:t>
              </a:r>
              <a:r>
                <a:rPr lang="en-US" sz="1200" b="0" dirty="0"/>
                <a:t>(GC) </a:t>
              </a:r>
              <a:r>
                <a:rPr lang="ru-RU" sz="1200" b="0" dirty="0"/>
                <a:t>сам его удалит</a:t>
              </a:r>
              <a:r>
                <a:rPr lang="en-US" sz="1200" b="0" dirty="0"/>
                <a:t>, </a:t>
              </a:r>
              <a:r>
                <a:rPr lang="ru-RU" sz="1200" b="0" dirty="0"/>
                <a:t>когда понадобится память</a:t>
              </a:r>
            </a:p>
            <a:p>
              <a:endParaRPr lang="en-US" sz="1200" dirty="0"/>
            </a:p>
          </p:txBody>
        </p:sp>
      </p:grpSp>
      <p:grpSp>
        <p:nvGrpSpPr>
          <p:cNvPr id="563" name="Группа 562">
            <a:extLst>
              <a:ext uri="{FF2B5EF4-FFF2-40B4-BE49-F238E27FC236}">
                <a16:creationId xmlns:a16="http://schemas.microsoft.com/office/drawing/2014/main" id="{63528A36-4E86-4075-0BD6-ACDFEB3901DD}"/>
              </a:ext>
            </a:extLst>
          </p:cNvPr>
          <p:cNvGrpSpPr/>
          <p:nvPr/>
        </p:nvGrpSpPr>
        <p:grpSpPr>
          <a:xfrm>
            <a:off x="5922519" y="1258898"/>
            <a:ext cx="2919509" cy="1427071"/>
            <a:chOff x="5097155" y="1258371"/>
            <a:chExt cx="2919509" cy="1427071"/>
          </a:xfrm>
        </p:grpSpPr>
        <p:sp>
          <p:nvSpPr>
            <p:cNvPr id="537" name="Прямоугольник: скругленные углы 536">
              <a:extLst>
                <a:ext uri="{FF2B5EF4-FFF2-40B4-BE49-F238E27FC236}">
                  <a16:creationId xmlns:a16="http://schemas.microsoft.com/office/drawing/2014/main" id="{88639DAD-72FD-ACF7-99A1-86A19BEB823C}"/>
                </a:ext>
              </a:extLst>
            </p:cNvPr>
            <p:cNvSpPr/>
            <p:nvPr/>
          </p:nvSpPr>
          <p:spPr>
            <a:xfrm>
              <a:off x="5097155" y="1286484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38" name="Прямоугольник: скругленные углы 537">
              <a:extLst>
                <a:ext uri="{FF2B5EF4-FFF2-40B4-BE49-F238E27FC236}">
                  <a16:creationId xmlns:a16="http://schemas.microsoft.com/office/drawing/2014/main" id="{06E16563-6092-772A-502D-4FA7385D3DBD}"/>
                </a:ext>
              </a:extLst>
            </p:cNvPr>
            <p:cNvSpPr/>
            <p:nvPr/>
          </p:nvSpPr>
          <p:spPr>
            <a:xfrm>
              <a:off x="6408674" y="1258371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42" name="Прямоугольник: скругленные углы 541">
              <a:extLst>
                <a:ext uri="{FF2B5EF4-FFF2-40B4-BE49-F238E27FC236}">
                  <a16:creationId xmlns:a16="http://schemas.microsoft.com/office/drawing/2014/main" id="{6868D133-A217-8B64-F85D-029AED98683A}"/>
                </a:ext>
              </a:extLst>
            </p:cNvPr>
            <p:cNvSpPr/>
            <p:nvPr/>
          </p:nvSpPr>
          <p:spPr>
            <a:xfrm>
              <a:off x="5210874" y="1477681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45" name="Прямоугольник: скругленные углы 544">
              <a:extLst>
                <a:ext uri="{FF2B5EF4-FFF2-40B4-BE49-F238E27FC236}">
                  <a16:creationId xmlns:a16="http://schemas.microsoft.com/office/drawing/2014/main" id="{024EC436-CED1-E886-4743-CD63D12FB127}"/>
                </a:ext>
              </a:extLst>
            </p:cNvPr>
            <p:cNvSpPr/>
            <p:nvPr/>
          </p:nvSpPr>
          <p:spPr>
            <a:xfrm>
              <a:off x="5210874" y="2044787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46" name="Овал 545">
              <a:extLst>
                <a:ext uri="{FF2B5EF4-FFF2-40B4-BE49-F238E27FC236}">
                  <a16:creationId xmlns:a16="http://schemas.microsoft.com/office/drawing/2014/main" id="{FF7530CF-7921-86F6-B6FF-B3D4960AFCC4}"/>
                </a:ext>
              </a:extLst>
            </p:cNvPr>
            <p:cNvSpPr/>
            <p:nvPr/>
          </p:nvSpPr>
          <p:spPr>
            <a:xfrm>
              <a:off x="6746413" y="1414997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47" name="Овал 546">
              <a:extLst>
                <a:ext uri="{FF2B5EF4-FFF2-40B4-BE49-F238E27FC236}">
                  <a16:creationId xmlns:a16="http://schemas.microsoft.com/office/drawing/2014/main" id="{9CF50A1F-3350-6823-3913-4C4D0C3685C7}"/>
                </a:ext>
              </a:extLst>
            </p:cNvPr>
            <p:cNvSpPr/>
            <p:nvPr/>
          </p:nvSpPr>
          <p:spPr>
            <a:xfrm>
              <a:off x="6746414" y="1988645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49" name="Прямая со стрелкой 548">
              <a:extLst>
                <a:ext uri="{FF2B5EF4-FFF2-40B4-BE49-F238E27FC236}">
                  <a16:creationId xmlns:a16="http://schemas.microsoft.com/office/drawing/2014/main" id="{996064D6-7835-7788-66A2-C20873D764B7}"/>
                </a:ext>
              </a:extLst>
            </p:cNvPr>
            <p:cNvCxnSpPr>
              <a:stCxn id="542" idx="3"/>
              <a:endCxn id="546" idx="2"/>
            </p:cNvCxnSpPr>
            <p:nvPr/>
          </p:nvCxnSpPr>
          <p:spPr>
            <a:xfrm flipV="1">
              <a:off x="6009949" y="165617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Прямая со стрелкой 549">
              <a:extLst>
                <a:ext uri="{FF2B5EF4-FFF2-40B4-BE49-F238E27FC236}">
                  <a16:creationId xmlns:a16="http://schemas.microsoft.com/office/drawing/2014/main" id="{58C8D8F9-2CD2-8277-3AF4-BBF52B391AC1}"/>
                </a:ext>
              </a:extLst>
            </p:cNvPr>
            <p:cNvCxnSpPr/>
            <p:nvPr/>
          </p:nvCxnSpPr>
          <p:spPr>
            <a:xfrm flipV="1">
              <a:off x="6005437" y="2267840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4" name="Группа 563">
            <a:extLst>
              <a:ext uri="{FF2B5EF4-FFF2-40B4-BE49-F238E27FC236}">
                <a16:creationId xmlns:a16="http://schemas.microsoft.com/office/drawing/2014/main" id="{E4C0394F-F5E1-8C79-BC31-590A83D9D85F}"/>
              </a:ext>
            </a:extLst>
          </p:cNvPr>
          <p:cNvGrpSpPr/>
          <p:nvPr/>
        </p:nvGrpSpPr>
        <p:grpSpPr>
          <a:xfrm>
            <a:off x="5922519" y="3177534"/>
            <a:ext cx="2919509" cy="1427071"/>
            <a:chOff x="5097155" y="3228740"/>
            <a:chExt cx="2919509" cy="1427071"/>
          </a:xfrm>
        </p:grpSpPr>
        <p:sp>
          <p:nvSpPr>
            <p:cNvPr id="551" name="Прямоугольник: скругленные углы 550">
              <a:extLst>
                <a:ext uri="{FF2B5EF4-FFF2-40B4-BE49-F238E27FC236}">
                  <a16:creationId xmlns:a16="http://schemas.microsoft.com/office/drawing/2014/main" id="{643A480B-C939-07B4-AD75-B4833DD1F6E6}"/>
                </a:ext>
              </a:extLst>
            </p:cNvPr>
            <p:cNvSpPr/>
            <p:nvPr/>
          </p:nvSpPr>
          <p:spPr>
            <a:xfrm>
              <a:off x="5097155" y="3256853"/>
              <a:ext cx="1026514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STACK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2" name="Прямоугольник: скругленные углы 551">
              <a:extLst>
                <a:ext uri="{FF2B5EF4-FFF2-40B4-BE49-F238E27FC236}">
                  <a16:creationId xmlns:a16="http://schemas.microsoft.com/office/drawing/2014/main" id="{ADD58AD8-B2A6-1F05-7BE4-F86E8214FB61}"/>
                </a:ext>
              </a:extLst>
            </p:cNvPr>
            <p:cNvSpPr/>
            <p:nvPr/>
          </p:nvSpPr>
          <p:spPr>
            <a:xfrm>
              <a:off x="6408674" y="3228740"/>
              <a:ext cx="1607990" cy="13989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endParaRPr lang="en-US" dirty="0">
                <a:solidFill>
                  <a:schemeClr val="accent2">
                    <a:lumMod val="2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accent2">
                      <a:lumMod val="25000"/>
                    </a:schemeClr>
                  </a:solidFill>
                </a:rPr>
                <a:t>HEAP</a:t>
              </a:r>
              <a:endParaRPr lang="ru-RU" dirty="0">
                <a:solidFill>
                  <a:schemeClr val="accent2">
                    <a:lumMod val="25000"/>
                  </a:schemeClr>
                </a:solidFill>
              </a:endParaRPr>
            </a:p>
          </p:txBody>
        </p:sp>
        <p:sp>
          <p:nvSpPr>
            <p:cNvPr id="553" name="Прямоугольник: скругленные углы 552">
              <a:extLst>
                <a:ext uri="{FF2B5EF4-FFF2-40B4-BE49-F238E27FC236}">
                  <a16:creationId xmlns:a16="http://schemas.microsoft.com/office/drawing/2014/main" id="{7C6A6B01-3D0B-9BB6-77F0-0A7D1809474B}"/>
                </a:ext>
              </a:extLst>
            </p:cNvPr>
            <p:cNvSpPr/>
            <p:nvPr/>
          </p:nvSpPr>
          <p:spPr>
            <a:xfrm>
              <a:off x="5210874" y="3448050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fruit1</a:t>
              </a:r>
              <a:endParaRPr lang="ru-RU" dirty="0"/>
            </a:p>
          </p:txBody>
        </p:sp>
        <p:sp>
          <p:nvSpPr>
            <p:cNvPr id="554" name="Прямоугольник: скругленные углы 553">
              <a:extLst>
                <a:ext uri="{FF2B5EF4-FFF2-40B4-BE49-F238E27FC236}">
                  <a16:creationId xmlns:a16="http://schemas.microsoft.com/office/drawing/2014/main" id="{8B3AA6CB-0FD5-B60F-9FE9-27C4E54AF139}"/>
                </a:ext>
              </a:extLst>
            </p:cNvPr>
            <p:cNvSpPr/>
            <p:nvPr/>
          </p:nvSpPr>
          <p:spPr>
            <a:xfrm>
              <a:off x="5210874" y="4015156"/>
              <a:ext cx="799075" cy="38169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fruit2</a:t>
              </a:r>
              <a:endParaRPr lang="ru-RU" dirty="0"/>
            </a:p>
          </p:txBody>
        </p:sp>
        <p:sp>
          <p:nvSpPr>
            <p:cNvPr id="555" name="Овал 554">
              <a:extLst>
                <a:ext uri="{FF2B5EF4-FFF2-40B4-BE49-F238E27FC236}">
                  <a16:creationId xmlns:a16="http://schemas.microsoft.com/office/drawing/2014/main" id="{A3BF2D01-79AD-BEB4-3BAF-ED33B20D298C}"/>
                </a:ext>
              </a:extLst>
            </p:cNvPr>
            <p:cNvSpPr/>
            <p:nvPr/>
          </p:nvSpPr>
          <p:spPr>
            <a:xfrm>
              <a:off x="6746413" y="3385366"/>
              <a:ext cx="932508" cy="48234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APPLE</a:t>
              </a:r>
              <a:endParaRPr lang="ru-RU" sz="1100" dirty="0"/>
            </a:p>
          </p:txBody>
        </p:sp>
        <p:sp>
          <p:nvSpPr>
            <p:cNvPr id="556" name="Овал 555">
              <a:extLst>
                <a:ext uri="{FF2B5EF4-FFF2-40B4-BE49-F238E27FC236}">
                  <a16:creationId xmlns:a16="http://schemas.microsoft.com/office/drawing/2014/main" id="{460C1A95-A6A2-1618-76C6-4A9BC5276812}"/>
                </a:ext>
              </a:extLst>
            </p:cNvPr>
            <p:cNvSpPr/>
            <p:nvPr/>
          </p:nvSpPr>
          <p:spPr>
            <a:xfrm>
              <a:off x="6746414" y="3959014"/>
              <a:ext cx="932507" cy="58310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MANGO</a:t>
              </a:r>
              <a:endParaRPr lang="ru-RU" sz="900" dirty="0"/>
            </a:p>
          </p:txBody>
        </p:sp>
        <p:cxnSp>
          <p:nvCxnSpPr>
            <p:cNvPr id="557" name="Прямая со стрелкой 556">
              <a:extLst>
                <a:ext uri="{FF2B5EF4-FFF2-40B4-BE49-F238E27FC236}">
                  <a16:creationId xmlns:a16="http://schemas.microsoft.com/office/drawing/2014/main" id="{BD3404EF-34E0-B714-7483-0167530892E7}"/>
                </a:ext>
              </a:extLst>
            </p:cNvPr>
            <p:cNvCxnSpPr>
              <a:stCxn id="553" idx="3"/>
              <a:endCxn id="555" idx="2"/>
            </p:cNvCxnSpPr>
            <p:nvPr/>
          </p:nvCxnSpPr>
          <p:spPr>
            <a:xfrm flipV="1">
              <a:off x="6009949" y="3626539"/>
              <a:ext cx="736464" cy="12357"/>
            </a:xfrm>
            <a:prstGeom prst="straightConnector1">
              <a:avLst/>
            </a:prstGeom>
            <a:ln>
              <a:solidFill>
                <a:schemeClr val="accent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EF833AB7-DB58-4961-CCBD-AC906840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мусор?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8085651F-9EF5-DB82-D5E7-692EAB75CED7}"/>
              </a:ext>
            </a:extLst>
          </p:cNvPr>
          <p:cNvSpPr txBox="1"/>
          <p:nvPr/>
        </p:nvSpPr>
        <p:spPr>
          <a:xfrm>
            <a:off x="2995891" y="1648974"/>
            <a:ext cx="3152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Fruit fruit1 = new Fruit(“APPLE”);</a:t>
            </a:r>
          </a:p>
          <a:p>
            <a:r>
              <a:rPr lang="en-US" dirty="0"/>
              <a:t>Fruit fruit2 = new Fruit(“MANGO”);</a:t>
            </a:r>
            <a:endParaRPr lang="ru-RU" dirty="0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F5B5FEF2-4DE9-5B76-4BC2-2D6D3AA145AE}"/>
              </a:ext>
            </a:extLst>
          </p:cNvPr>
          <p:cNvSpPr txBox="1"/>
          <p:nvPr/>
        </p:nvSpPr>
        <p:spPr>
          <a:xfrm>
            <a:off x="3750238" y="356923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fruit2 = null; 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3756DB0-AC44-127B-AC6F-91444D06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F518133B-7F1E-A898-4C71-94AAD9D4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мусора: процесс</a:t>
            </a:r>
          </a:p>
        </p:txBody>
      </p:sp>
      <p:grpSp>
        <p:nvGrpSpPr>
          <p:cNvPr id="598" name="Группа 597">
            <a:extLst>
              <a:ext uri="{FF2B5EF4-FFF2-40B4-BE49-F238E27FC236}">
                <a16:creationId xmlns:a16="http://schemas.microsoft.com/office/drawing/2014/main" id="{798806A7-8599-8D67-6525-FF07FCFA0AC5}"/>
              </a:ext>
            </a:extLst>
          </p:cNvPr>
          <p:cNvGrpSpPr/>
          <p:nvPr/>
        </p:nvGrpSpPr>
        <p:grpSpPr>
          <a:xfrm>
            <a:off x="-184826" y="1228318"/>
            <a:ext cx="6603026" cy="2257984"/>
            <a:chOff x="-219176" y="1255275"/>
            <a:chExt cx="8229320" cy="2916853"/>
          </a:xfrm>
        </p:grpSpPr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BFBF7BC9-38C5-0D5B-48DA-A8755C64F375}"/>
                </a:ext>
              </a:extLst>
            </p:cNvPr>
            <p:cNvGrpSpPr/>
            <p:nvPr/>
          </p:nvGrpSpPr>
          <p:grpSpPr>
            <a:xfrm>
              <a:off x="1722120" y="1255275"/>
              <a:ext cx="5425440" cy="719328"/>
              <a:chOff x="1280160" y="1194816"/>
              <a:chExt cx="5425440" cy="719328"/>
            </a:xfrm>
          </p:grpSpPr>
          <p:sp>
            <p:nvSpPr>
              <p:cNvPr id="2" name="Прямоугольник: скругленные углы 1">
                <a:extLst>
                  <a:ext uri="{FF2B5EF4-FFF2-40B4-BE49-F238E27FC236}">
                    <a16:creationId xmlns:a16="http://schemas.microsoft.com/office/drawing/2014/main" id="{0CF57218-8649-DA8D-EF00-E001A95E932C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  <p:grpSp>
            <p:nvGrpSpPr>
              <p:cNvPr id="15" name="Группа 14">
                <a:extLst>
                  <a:ext uri="{FF2B5EF4-FFF2-40B4-BE49-F238E27FC236}">
                    <a16:creationId xmlns:a16="http://schemas.microsoft.com/office/drawing/2014/main" id="{77652533-2DDE-C328-6FC4-6B6D9E91A33E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9" name="Прямоугольник: скругленные углы 8">
                  <a:extLst>
                    <a:ext uri="{FF2B5EF4-FFF2-40B4-BE49-F238E27FC236}">
                      <a16:creationId xmlns:a16="http://schemas.microsoft.com/office/drawing/2014/main" id="{C7B04A6D-1F5E-211C-B27B-CA1330EBEB4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" name="Прямоугольник: скругленные углы 9">
                  <a:extLst>
                    <a:ext uri="{FF2B5EF4-FFF2-40B4-BE49-F238E27FC236}">
                      <a16:creationId xmlns:a16="http://schemas.microsoft.com/office/drawing/2014/main" id="{CF99F4FD-F987-4602-AEF5-226F51F331F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6" name="Группа 15">
                <a:extLst>
                  <a:ext uri="{FF2B5EF4-FFF2-40B4-BE49-F238E27FC236}">
                    <a16:creationId xmlns:a16="http://schemas.microsoft.com/office/drawing/2014/main" id="{A006BF78-2D29-F572-E87A-8060C524E096}"/>
                  </a:ext>
                </a:extLst>
              </p:cNvPr>
              <p:cNvGrpSpPr/>
              <p:nvPr/>
            </p:nvGrpSpPr>
            <p:grpSpPr>
              <a:xfrm>
                <a:off x="2743200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17" name="Прямоугольник: скругленные углы 16">
                  <a:extLst>
                    <a:ext uri="{FF2B5EF4-FFF2-40B4-BE49-F238E27FC236}">
                      <a16:creationId xmlns:a16="http://schemas.microsoft.com/office/drawing/2014/main" id="{0C37E127-6FFD-2999-29A7-8912EA48EDD6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8" name="Прямоугольник: скругленные углы 17">
                  <a:extLst>
                    <a:ext uri="{FF2B5EF4-FFF2-40B4-BE49-F238E27FC236}">
                      <a16:creationId xmlns:a16="http://schemas.microsoft.com/office/drawing/2014/main" id="{B785312A-2469-BF10-F18C-B1AD4F152AF7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7F61E2C2-DDB1-3FF1-A665-091C41838E8D}"/>
                  </a:ext>
                </a:extLst>
              </p:cNvPr>
              <p:cNvGrpSpPr/>
              <p:nvPr/>
            </p:nvGrpSpPr>
            <p:grpSpPr>
              <a:xfrm>
                <a:off x="3858768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0" name="Прямоугольник: скругленные углы 19">
                  <a:extLst>
                    <a:ext uri="{FF2B5EF4-FFF2-40B4-BE49-F238E27FC236}">
                      <a16:creationId xmlns:a16="http://schemas.microsoft.com/office/drawing/2014/main" id="{D3043243-37A7-C603-4780-BC9B8A27D39D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1" name="Прямоугольник: скругленные углы 20">
                  <a:extLst>
                    <a:ext uri="{FF2B5EF4-FFF2-40B4-BE49-F238E27FC236}">
                      <a16:creationId xmlns:a16="http://schemas.microsoft.com/office/drawing/2014/main" id="{32757E07-CA13-B5F5-A33A-4B780B4076DE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9A185CFB-E434-980C-64EE-22288EB9CB3B}"/>
                  </a:ext>
                </a:extLst>
              </p:cNvPr>
              <p:cNvGrpSpPr/>
              <p:nvPr/>
            </p:nvGrpSpPr>
            <p:grpSpPr>
              <a:xfrm>
                <a:off x="499262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23" name="Прямоугольник: скругленные углы 22">
                  <a:extLst>
                    <a:ext uri="{FF2B5EF4-FFF2-40B4-BE49-F238E27FC236}">
                      <a16:creationId xmlns:a16="http://schemas.microsoft.com/office/drawing/2014/main" id="{E10653D1-8597-6F68-F4DE-D41F572C8CEF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4" name="Прямоугольник: скругленные углы 23">
                  <a:extLst>
                    <a:ext uri="{FF2B5EF4-FFF2-40B4-BE49-F238E27FC236}">
                      <a16:creationId xmlns:a16="http://schemas.microsoft.com/office/drawing/2014/main" id="{A4C75386-0E06-52CA-46ED-2396F6761F65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E4039BFF-4B67-F219-FFFA-5998B69BB0B1}"/>
                </a:ext>
              </a:extLst>
            </p:cNvPr>
            <p:cNvGrpSpPr/>
            <p:nvPr/>
          </p:nvGrpSpPr>
          <p:grpSpPr>
            <a:xfrm>
              <a:off x="1722120" y="2379459"/>
              <a:ext cx="5425440" cy="719328"/>
              <a:chOff x="1280160" y="1194816"/>
              <a:chExt cx="5425440" cy="719328"/>
            </a:xfrm>
          </p:grpSpPr>
          <p:sp>
            <p:nvSpPr>
              <p:cNvPr id="28" name="Прямоугольник: скругленные углы 27">
                <a:extLst>
                  <a:ext uri="{FF2B5EF4-FFF2-40B4-BE49-F238E27FC236}">
                    <a16:creationId xmlns:a16="http://schemas.microsoft.com/office/drawing/2014/main" id="{B2D58ED4-5216-DDD8-DE32-92D8E0AF0DCD}"/>
                  </a:ext>
                </a:extLst>
              </p:cNvPr>
              <p:cNvSpPr/>
              <p:nvPr/>
            </p:nvSpPr>
            <p:spPr>
              <a:xfrm>
                <a:off x="1280160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F98C151D-8C3D-4645-D184-22ADF42B659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19" name="Прямоугольник: скругленные углы 518">
                  <a:extLst>
                    <a:ext uri="{FF2B5EF4-FFF2-40B4-BE49-F238E27FC236}">
                      <a16:creationId xmlns:a16="http://schemas.microsoft.com/office/drawing/2014/main" id="{310B365F-7DBB-4496-70B6-8B8CDE6B29FB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20" name="Прямоугольник: скругленные углы 519">
                  <a:extLst>
                    <a:ext uri="{FF2B5EF4-FFF2-40B4-BE49-F238E27FC236}">
                      <a16:creationId xmlns:a16="http://schemas.microsoft.com/office/drawing/2014/main" id="{03875909-3D1E-979D-0CDB-22C104F94DB0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15" name="Прямоугольник: скругленные углы 514">
                <a:extLst>
                  <a:ext uri="{FF2B5EF4-FFF2-40B4-BE49-F238E27FC236}">
                    <a16:creationId xmlns:a16="http://schemas.microsoft.com/office/drawing/2014/main" id="{1B8CBBF2-ED61-4724-7D96-0152ED77F601}"/>
                  </a:ext>
                </a:extLst>
              </p:cNvPr>
              <p:cNvSpPr/>
              <p:nvPr/>
            </p:nvSpPr>
            <p:spPr>
              <a:xfrm>
                <a:off x="3858768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4" name="Прямоугольник: скругленные углы 513">
                <a:extLst>
                  <a:ext uri="{FF2B5EF4-FFF2-40B4-BE49-F238E27FC236}">
                    <a16:creationId xmlns:a16="http://schemas.microsoft.com/office/drawing/2014/main" id="{C97EE1D1-28C2-EDA3-E0F9-2A54B442DBCD}"/>
                  </a:ext>
                </a:extLst>
              </p:cNvPr>
              <p:cNvSpPr/>
              <p:nvPr/>
            </p:nvSpPr>
            <p:spPr>
              <a:xfrm>
                <a:off x="555955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521" name="Группа 520">
              <a:extLst>
                <a:ext uri="{FF2B5EF4-FFF2-40B4-BE49-F238E27FC236}">
                  <a16:creationId xmlns:a16="http://schemas.microsoft.com/office/drawing/2014/main" id="{890D8C3C-5093-CE1E-FEB3-DA0CDBD2DB0A}"/>
                </a:ext>
              </a:extLst>
            </p:cNvPr>
            <p:cNvGrpSpPr/>
            <p:nvPr/>
          </p:nvGrpSpPr>
          <p:grpSpPr>
            <a:xfrm>
              <a:off x="1727313" y="3452800"/>
              <a:ext cx="5425440" cy="719328"/>
              <a:chOff x="1285353" y="1194816"/>
              <a:chExt cx="5425440" cy="719328"/>
            </a:xfrm>
          </p:grpSpPr>
          <p:sp>
            <p:nvSpPr>
              <p:cNvPr id="522" name="Прямоугольник: скругленные углы 521">
                <a:extLst>
                  <a:ext uri="{FF2B5EF4-FFF2-40B4-BE49-F238E27FC236}">
                    <a16:creationId xmlns:a16="http://schemas.microsoft.com/office/drawing/2014/main" id="{6822EEDC-4A3E-792F-0065-09C55457F5D3}"/>
                  </a:ext>
                </a:extLst>
              </p:cNvPr>
              <p:cNvSpPr/>
              <p:nvPr/>
            </p:nvSpPr>
            <p:spPr>
              <a:xfrm>
                <a:off x="1285353" y="1194816"/>
                <a:ext cx="5425440" cy="719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endParaRPr lang="en-US" b="1" dirty="0">
                  <a:solidFill>
                    <a:schemeClr val="accent2">
                      <a:lumMod val="10000"/>
                    </a:schemeClr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accent2">
                        <a:lumMod val="10000"/>
                      </a:schemeClr>
                    </a:solidFill>
                  </a:rPr>
                  <a:t>HEAP</a:t>
                </a:r>
              </a:p>
              <a:p>
                <a:pPr algn="ctr"/>
                <a:endParaRPr lang="ru-RU" dirty="0"/>
              </a:p>
            </p:txBody>
          </p:sp>
          <p:grpSp>
            <p:nvGrpSpPr>
              <p:cNvPr id="523" name="Группа 522">
                <a:extLst>
                  <a:ext uri="{FF2B5EF4-FFF2-40B4-BE49-F238E27FC236}">
                    <a16:creationId xmlns:a16="http://schemas.microsoft.com/office/drawing/2014/main" id="{4E19589B-F820-15CB-E52A-01319F157A84}"/>
                  </a:ext>
                </a:extLst>
              </p:cNvPr>
              <p:cNvGrpSpPr/>
              <p:nvPr/>
            </p:nvGrpSpPr>
            <p:grpSpPr>
              <a:xfrm>
                <a:off x="1609344" y="1331976"/>
                <a:ext cx="1042416" cy="445008"/>
                <a:chOff x="1609344" y="1331976"/>
                <a:chExt cx="1042416" cy="445008"/>
              </a:xfrm>
            </p:grpSpPr>
            <p:sp>
              <p:nvSpPr>
                <p:cNvPr id="537" name="Прямоугольник: скругленные углы 536">
                  <a:extLst>
                    <a:ext uri="{FF2B5EF4-FFF2-40B4-BE49-F238E27FC236}">
                      <a16:creationId xmlns:a16="http://schemas.microsoft.com/office/drawing/2014/main" id="{B1564F09-4E5F-6750-FD24-08A70E260774}"/>
                    </a:ext>
                  </a:extLst>
                </p:cNvPr>
                <p:cNvSpPr/>
                <p:nvPr/>
              </p:nvSpPr>
              <p:spPr>
                <a:xfrm>
                  <a:off x="1609344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538" name="Прямоугольник: скругленные углы 537">
                  <a:extLst>
                    <a:ext uri="{FF2B5EF4-FFF2-40B4-BE49-F238E27FC236}">
                      <a16:creationId xmlns:a16="http://schemas.microsoft.com/office/drawing/2014/main" id="{8907C889-22C5-A023-2D38-B556F900D763}"/>
                    </a:ext>
                  </a:extLst>
                </p:cNvPr>
                <p:cNvSpPr/>
                <p:nvPr/>
              </p:nvSpPr>
              <p:spPr>
                <a:xfrm>
                  <a:off x="2176272" y="1331976"/>
                  <a:ext cx="475488" cy="44500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531" name="Прямоугольник: скругленные углы 530">
                <a:extLst>
                  <a:ext uri="{FF2B5EF4-FFF2-40B4-BE49-F238E27FC236}">
                    <a16:creationId xmlns:a16="http://schemas.microsoft.com/office/drawing/2014/main" id="{506AA4F4-BDF1-EBB4-8F61-193949CDD843}"/>
                  </a:ext>
                </a:extLst>
              </p:cNvPr>
              <p:cNvSpPr/>
              <p:nvPr/>
            </p:nvSpPr>
            <p:spPr>
              <a:xfrm>
                <a:off x="2752344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528" name="Прямоугольник: скругленные углы 527">
                <a:extLst>
                  <a:ext uri="{FF2B5EF4-FFF2-40B4-BE49-F238E27FC236}">
                    <a16:creationId xmlns:a16="http://schemas.microsoft.com/office/drawing/2014/main" id="{81C136B9-00FA-45CD-94B4-FD787E3C1D0B}"/>
                  </a:ext>
                </a:extLst>
              </p:cNvPr>
              <p:cNvSpPr/>
              <p:nvPr/>
            </p:nvSpPr>
            <p:spPr>
              <a:xfrm>
                <a:off x="3304032" y="1331976"/>
                <a:ext cx="475488" cy="445008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38D547B1-9663-F260-7B27-61B92345C03F}"/>
                </a:ext>
              </a:extLst>
            </p:cNvPr>
            <p:cNvSpPr txBox="1"/>
            <p:nvPr/>
          </p:nvSpPr>
          <p:spPr>
            <a:xfrm>
              <a:off x="-35563" y="1294143"/>
              <a:ext cx="1706543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MARKING</a:t>
              </a:r>
            </a:p>
            <a:p>
              <a:r>
                <a:rPr lang="en-US" b="1" dirty="0"/>
                <a:t>(</a:t>
              </a:r>
              <a:r>
                <a:rPr lang="ru-RU" b="1" dirty="0"/>
                <a:t>маркировка)</a:t>
              </a:r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7C76E913-AF5C-42D1-F9CA-A9EDD149BCD1}"/>
                </a:ext>
              </a:extLst>
            </p:cNvPr>
            <p:cNvSpPr txBox="1"/>
            <p:nvPr/>
          </p:nvSpPr>
          <p:spPr>
            <a:xfrm>
              <a:off x="77892" y="2461591"/>
              <a:ext cx="1479635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SWEEPING</a:t>
              </a:r>
              <a:endParaRPr lang="ru-RU" b="1" dirty="0"/>
            </a:p>
            <a:p>
              <a:pPr algn="ctr"/>
              <a:r>
                <a:rPr lang="ru-RU" b="1" dirty="0"/>
                <a:t>(очистка)</a:t>
              </a:r>
            </a:p>
          </p:txBody>
        </p:sp>
        <p:sp>
          <p:nvSpPr>
            <p:cNvPr id="557" name="TextBox 556">
              <a:extLst>
                <a:ext uri="{FF2B5EF4-FFF2-40B4-BE49-F238E27FC236}">
                  <a16:creationId xmlns:a16="http://schemas.microsoft.com/office/drawing/2014/main" id="{946CCF71-F537-C109-700E-E77A56A8C037}"/>
                </a:ext>
              </a:extLst>
            </p:cNvPr>
            <p:cNvSpPr txBox="1"/>
            <p:nvPr/>
          </p:nvSpPr>
          <p:spPr>
            <a:xfrm>
              <a:off x="-219176" y="3448394"/>
              <a:ext cx="2148324" cy="675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COMPACTION</a:t>
              </a:r>
              <a:endParaRPr lang="ru-RU" b="1" dirty="0"/>
            </a:p>
            <a:p>
              <a:pPr algn="ctr"/>
              <a:r>
                <a:rPr lang="ru-RU" b="1" dirty="0"/>
                <a:t>(уплотнение)</a:t>
              </a:r>
            </a:p>
          </p:txBody>
        </p:sp>
        <p:sp>
          <p:nvSpPr>
            <p:cNvPr id="558" name="Прямоугольник: скругленные углы 557">
              <a:extLst>
                <a:ext uri="{FF2B5EF4-FFF2-40B4-BE49-F238E27FC236}">
                  <a16:creationId xmlns:a16="http://schemas.microsoft.com/office/drawing/2014/main" id="{63DADB14-C960-D94A-FF8A-8B91D45658BA}"/>
                </a:ext>
              </a:extLst>
            </p:cNvPr>
            <p:cNvSpPr/>
            <p:nvPr/>
          </p:nvSpPr>
          <p:spPr>
            <a:xfrm>
              <a:off x="7365492" y="2045420"/>
              <a:ext cx="644652" cy="596955"/>
            </a:xfrm>
            <a:prstGeom prst="round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>
                  <a:solidFill>
                    <a:schemeClr val="accent2">
                      <a:lumMod val="10000"/>
                    </a:schemeClr>
                  </a:solidFill>
                </a:rPr>
                <a:t>NOT USE</a:t>
              </a:r>
              <a:endParaRPr lang="ru-RU" sz="105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  <p:sp>
          <p:nvSpPr>
            <p:cNvPr id="559" name="Прямоугольник: скругленные углы 558">
              <a:extLst>
                <a:ext uri="{FF2B5EF4-FFF2-40B4-BE49-F238E27FC236}">
                  <a16:creationId xmlns:a16="http://schemas.microsoft.com/office/drawing/2014/main" id="{4ECDDC0F-ECFF-E218-1CDC-660187FA7FAF}"/>
                </a:ext>
              </a:extLst>
            </p:cNvPr>
            <p:cNvSpPr/>
            <p:nvPr/>
          </p:nvSpPr>
          <p:spPr>
            <a:xfrm>
              <a:off x="7365492" y="1285257"/>
              <a:ext cx="644652" cy="59695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accent2">
                      <a:lumMod val="10000"/>
                    </a:schemeClr>
                  </a:solidFill>
                </a:rPr>
                <a:t>USE</a:t>
              </a:r>
              <a:endParaRPr lang="ru-RU" sz="1100" b="1" dirty="0">
                <a:solidFill>
                  <a:schemeClr val="accent2">
                    <a:lumMod val="10000"/>
                  </a:schemeClr>
                </a:solidFill>
              </a:endParaRPr>
            </a:p>
          </p:txBody>
        </p:sp>
      </p:grpSp>
      <p:grpSp>
        <p:nvGrpSpPr>
          <p:cNvPr id="560" name="Группа 559">
            <a:extLst>
              <a:ext uri="{FF2B5EF4-FFF2-40B4-BE49-F238E27FC236}">
                <a16:creationId xmlns:a16="http://schemas.microsoft.com/office/drawing/2014/main" id="{D63FD299-FD60-034E-266C-A89536308864}"/>
              </a:ext>
            </a:extLst>
          </p:cNvPr>
          <p:cNvGrpSpPr/>
          <p:nvPr/>
        </p:nvGrpSpPr>
        <p:grpSpPr>
          <a:xfrm>
            <a:off x="5854333" y="2562305"/>
            <a:ext cx="2822105" cy="1956799"/>
            <a:chOff x="242124" y="2130179"/>
            <a:chExt cx="2822105" cy="1956799"/>
          </a:xfrm>
        </p:grpSpPr>
        <p:sp>
          <p:nvSpPr>
            <p:cNvPr id="562" name="Подзаголовок 22">
              <a:extLst>
                <a:ext uri="{FF2B5EF4-FFF2-40B4-BE49-F238E27FC236}">
                  <a16:creationId xmlns:a16="http://schemas.microsoft.com/office/drawing/2014/main" id="{B77AEC21-58A9-FE29-80FD-600D7E099371}"/>
                </a:ext>
              </a:extLst>
            </p:cNvPr>
            <p:cNvSpPr txBox="1">
              <a:spLocks/>
            </p:cNvSpPr>
            <p:nvPr/>
          </p:nvSpPr>
          <p:spPr>
            <a:xfrm>
              <a:off x="242124" y="2130179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Как это работает?</a:t>
              </a:r>
            </a:p>
          </p:txBody>
        </p:sp>
        <p:sp>
          <p:nvSpPr>
            <p:cNvPr id="563" name="Google Shape;563;p34">
              <a:extLst>
                <a:ext uri="{FF2B5EF4-FFF2-40B4-BE49-F238E27FC236}">
                  <a16:creationId xmlns:a16="http://schemas.microsoft.com/office/drawing/2014/main" id="{76EA430A-6D14-981E-C0CF-9B65236E76F4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1. </a:t>
              </a:r>
              <a:r>
                <a:rPr lang="en-US" sz="1200" b="0" dirty="0"/>
                <a:t>GC</a:t>
              </a:r>
              <a:r>
                <a:rPr lang="ru-RU" sz="1200" b="0" dirty="0"/>
                <a:t> находит и помечает объекты</a:t>
              </a:r>
              <a:r>
                <a:rPr lang="en-US" sz="1200" b="0" dirty="0"/>
                <a:t>,</a:t>
              </a:r>
              <a:r>
                <a:rPr lang="ru-RU" sz="1200" b="0" dirty="0"/>
                <a:t> на которые есть ссылки</a:t>
              </a:r>
            </a:p>
            <a:p>
              <a:endParaRPr lang="en-US" sz="1200" dirty="0"/>
            </a:p>
          </p:txBody>
        </p:sp>
        <p:cxnSp>
          <p:nvCxnSpPr>
            <p:cNvPr id="564" name="Прямая соединительная линия 563">
              <a:extLst>
                <a:ext uri="{FF2B5EF4-FFF2-40B4-BE49-F238E27FC236}">
                  <a16:creationId xmlns:a16="http://schemas.microsoft.com/office/drawing/2014/main" id="{F5A80E61-00E8-92AE-5649-E31AF63964AD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668" cy="156421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5" name="Google Shape;563;p34">
              <a:extLst>
                <a:ext uri="{FF2B5EF4-FFF2-40B4-BE49-F238E27FC236}">
                  <a16:creationId xmlns:a16="http://schemas.microsoft.com/office/drawing/2014/main" id="{E4F4FE49-3BAB-8070-4066-3A27F4C6CDA6}"/>
                </a:ext>
              </a:extLst>
            </p:cNvPr>
            <p:cNvSpPr txBox="1">
              <a:spLocks/>
            </p:cNvSpPr>
            <p:nvPr/>
          </p:nvSpPr>
          <p:spPr>
            <a:xfrm>
              <a:off x="610388" y="3086601"/>
              <a:ext cx="2449046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2. Удаляются все непомеченные объекты – это мусор.</a:t>
              </a:r>
            </a:p>
            <a:p>
              <a:endParaRPr lang="en-US" sz="1200" dirty="0"/>
            </a:p>
          </p:txBody>
        </p:sp>
        <p:sp>
          <p:nvSpPr>
            <p:cNvPr id="566" name="Google Shape;563;p34">
              <a:extLst>
                <a:ext uri="{FF2B5EF4-FFF2-40B4-BE49-F238E27FC236}">
                  <a16:creationId xmlns:a16="http://schemas.microsoft.com/office/drawing/2014/main" id="{E70F8550-DB1B-9ED6-EE09-01770B5CB01F}"/>
                </a:ext>
              </a:extLst>
            </p:cNvPr>
            <p:cNvSpPr txBox="1">
              <a:spLocks/>
            </p:cNvSpPr>
            <p:nvPr/>
          </p:nvSpPr>
          <p:spPr>
            <a:xfrm>
              <a:off x="626136" y="3491342"/>
              <a:ext cx="243329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3. Объекты</a:t>
              </a:r>
              <a:r>
                <a:rPr lang="en-US" sz="1200" b="0" dirty="0"/>
                <a:t>, </a:t>
              </a:r>
              <a:r>
                <a:rPr lang="ru-RU" sz="1200" b="0" dirty="0"/>
                <a:t>на которые есть ссылки</a:t>
              </a:r>
              <a:r>
                <a:rPr lang="en-US" sz="1200" b="0" dirty="0"/>
                <a:t>, </a:t>
              </a:r>
              <a:r>
                <a:rPr lang="ru-RU" sz="1200" b="0" dirty="0"/>
                <a:t>сдвигаются в один блок</a:t>
              </a:r>
              <a:r>
                <a:rPr lang="en-US" sz="1200" b="0" dirty="0"/>
                <a:t>, </a:t>
              </a:r>
              <a:r>
                <a:rPr lang="ru-RU" sz="1200" b="0" dirty="0"/>
                <a:t>чтобы не было пустот</a:t>
              </a:r>
            </a:p>
            <a:p>
              <a:endParaRPr lang="en-US" sz="1200" dirty="0"/>
            </a:p>
          </p:txBody>
        </p:sp>
      </p:grpSp>
      <p:cxnSp>
        <p:nvCxnSpPr>
          <p:cNvPr id="602" name="Прямая соединительная линия 601">
            <a:extLst>
              <a:ext uri="{FF2B5EF4-FFF2-40B4-BE49-F238E27FC236}">
                <a16:creationId xmlns:a16="http://schemas.microsoft.com/office/drawing/2014/main" id="{C8BF6DBF-C61A-2097-3DCF-54AE53F343F8}"/>
              </a:ext>
            </a:extLst>
          </p:cNvPr>
          <p:cNvCxnSpPr>
            <a:cxnSpLocks/>
          </p:cNvCxnSpPr>
          <p:nvPr/>
        </p:nvCxnSpPr>
        <p:spPr>
          <a:xfrm>
            <a:off x="1238095" y="4078016"/>
            <a:ext cx="2667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Подзаголовок 22">
            <a:extLst>
              <a:ext uri="{FF2B5EF4-FFF2-40B4-BE49-F238E27FC236}">
                <a16:creationId xmlns:a16="http://schemas.microsoft.com/office/drawing/2014/main" id="{EC4ABB44-74CC-D52F-B564-9A429AC05B0E}"/>
              </a:ext>
            </a:extLst>
          </p:cNvPr>
          <p:cNvSpPr txBox="1">
            <a:spLocks/>
          </p:cNvSpPr>
          <p:nvPr/>
        </p:nvSpPr>
        <p:spPr>
          <a:xfrm>
            <a:off x="1039261" y="4055308"/>
            <a:ext cx="541135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400" dirty="0"/>
              <a:t>! </a:t>
            </a:r>
            <a:r>
              <a:rPr lang="ru-RU" sz="1400" b="0" dirty="0"/>
              <a:t>На этапе </a:t>
            </a:r>
            <a:r>
              <a:rPr lang="en-US" sz="1400" b="0" dirty="0"/>
              <a:t>MARKING </a:t>
            </a:r>
            <a:r>
              <a:rPr lang="ru-RU" sz="1400" b="0" dirty="0"/>
              <a:t>программа не работает – это называется </a:t>
            </a:r>
            <a:r>
              <a:rPr lang="en-US" sz="1400" b="0" dirty="0"/>
              <a:t>Stop the World</a:t>
            </a:r>
            <a:endParaRPr lang="ru-RU" sz="1400" b="0" dirty="0"/>
          </a:p>
        </p:txBody>
      </p:sp>
    </p:spTree>
    <p:extLst>
      <p:ext uri="{BB962C8B-B14F-4D97-AF65-F5344CB8AC3E}">
        <p14:creationId xmlns:p14="http://schemas.microsoft.com/office/powerpoint/2010/main" val="188373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5CF8C664-83B6-CA8B-FC3D-F0AE33A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id="{6099F807-2F37-11AB-BF86-507220F58EFF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-696304" y="953419"/>
            <a:ext cx="2537100" cy="461700"/>
          </a:xfrm>
        </p:spPr>
        <p:txBody>
          <a:bodyPr/>
          <a:lstStyle/>
          <a:p>
            <a:r>
              <a:rPr lang="en-US" dirty="0"/>
              <a:t>Serial</a:t>
            </a:r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3BD2061-B491-391B-10FE-BDE89F97B6C7}"/>
              </a:ext>
            </a:extLst>
          </p:cNvPr>
          <p:cNvGrpSpPr/>
          <p:nvPr/>
        </p:nvGrpSpPr>
        <p:grpSpPr>
          <a:xfrm>
            <a:off x="-82800" y="1918019"/>
            <a:ext cx="2979358" cy="1081554"/>
            <a:chOff x="213118" y="2095980"/>
            <a:chExt cx="2979358" cy="1081554"/>
          </a:xfrm>
        </p:grpSpPr>
        <p:sp>
          <p:nvSpPr>
            <p:cNvPr id="528" name="Подзаголовок 22">
              <a:extLst>
                <a:ext uri="{FF2B5EF4-FFF2-40B4-BE49-F238E27FC236}">
                  <a16:creationId xmlns:a16="http://schemas.microsoft.com/office/drawing/2014/main" id="{348641B5-C5A8-CFE2-7D68-2E34E8883918}"/>
                </a:ext>
              </a:extLst>
            </p:cNvPr>
            <p:cNvSpPr txBox="1">
              <a:spLocks/>
            </p:cNvSpPr>
            <p:nvPr/>
          </p:nvSpPr>
          <p:spPr>
            <a:xfrm>
              <a:off x="213118" y="2095980"/>
              <a:ext cx="2979358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ru-RU" dirty="0"/>
                <a:t>Когда использовать?</a:t>
              </a:r>
            </a:p>
          </p:txBody>
        </p:sp>
        <p:sp>
          <p:nvSpPr>
            <p:cNvPr id="529" name="Google Shape;563;p34">
              <a:extLst>
                <a:ext uri="{FF2B5EF4-FFF2-40B4-BE49-F238E27FC236}">
                  <a16:creationId xmlns:a16="http://schemas.microsoft.com/office/drawing/2014/main" id="{CE77AB11-2738-89F3-67DD-411C7EB1284E}"/>
                </a:ext>
              </a:extLst>
            </p:cNvPr>
            <p:cNvSpPr txBox="1">
              <a:spLocks/>
            </p:cNvSpPr>
            <p:nvPr/>
          </p:nvSpPr>
          <p:spPr>
            <a:xfrm>
              <a:off x="613781" y="2514274"/>
              <a:ext cx="2450448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Для слабых ПК и маленьких программ</a:t>
              </a:r>
              <a:r>
                <a:rPr lang="en-US" sz="1200" b="0" dirty="0"/>
                <a:t>, </a:t>
              </a:r>
              <a:r>
                <a:rPr lang="ru-RU" sz="1200" b="0" dirty="0"/>
                <a:t>где нужно работать с небольшими наборами данных</a:t>
              </a:r>
            </a:p>
            <a:p>
              <a:endParaRPr lang="en-US" sz="1200" dirty="0"/>
            </a:p>
          </p:txBody>
        </p:sp>
        <p:cxnSp>
          <p:nvCxnSpPr>
            <p:cNvPr id="530" name="Прямая соединительная линия 529">
              <a:extLst>
                <a:ext uri="{FF2B5EF4-FFF2-40B4-BE49-F238E27FC236}">
                  <a16:creationId xmlns:a16="http://schemas.microsoft.com/office/drawing/2014/main" id="{738D46C9-D8A2-0286-6AAF-325B3274FE74}"/>
                </a:ext>
              </a:extLst>
            </p:cNvPr>
            <p:cNvCxnSpPr>
              <a:cxnSpLocks/>
            </p:cNvCxnSpPr>
            <p:nvPr/>
          </p:nvCxnSpPr>
          <p:spPr>
            <a:xfrm>
              <a:off x="637605" y="2522762"/>
              <a:ext cx="2110" cy="654772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4EAC4FF3-9F11-AAD0-1B1C-6A9C368B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1" y="135897"/>
            <a:ext cx="7704000" cy="572700"/>
          </a:xfrm>
        </p:spPr>
        <p:txBody>
          <a:bodyPr/>
          <a:lstStyle/>
          <a:p>
            <a:r>
              <a:rPr lang="ru-RU" dirty="0"/>
              <a:t>Типы сборщиков мусора</a:t>
            </a:r>
          </a:p>
        </p:txBody>
      </p:sp>
      <p:grpSp>
        <p:nvGrpSpPr>
          <p:cNvPr id="573" name="Группа 572">
            <a:extLst>
              <a:ext uri="{FF2B5EF4-FFF2-40B4-BE49-F238E27FC236}">
                <a16:creationId xmlns:a16="http://schemas.microsoft.com/office/drawing/2014/main" id="{664CDA10-2F65-926C-4E90-D3B21FE056AA}"/>
              </a:ext>
            </a:extLst>
          </p:cNvPr>
          <p:cNvGrpSpPr/>
          <p:nvPr/>
        </p:nvGrpSpPr>
        <p:grpSpPr>
          <a:xfrm>
            <a:off x="317863" y="916602"/>
            <a:ext cx="8273510" cy="2743098"/>
            <a:chOff x="266411" y="902188"/>
            <a:chExt cx="8273510" cy="2743098"/>
          </a:xfrm>
        </p:grpSpPr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64EB73EE-3ABA-D21F-53D0-8BE1C7066B17}"/>
                </a:ext>
              </a:extLst>
            </p:cNvPr>
            <p:cNvCxnSpPr>
              <a:cxnSpLocks/>
            </p:cNvCxnSpPr>
            <p:nvPr/>
          </p:nvCxnSpPr>
          <p:spPr>
            <a:xfrm>
              <a:off x="313948" y="1290152"/>
              <a:ext cx="0" cy="604176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Google Shape;563;p34">
              <a:extLst>
                <a:ext uri="{FF2B5EF4-FFF2-40B4-BE49-F238E27FC236}">
                  <a16:creationId xmlns:a16="http://schemas.microsoft.com/office/drawing/2014/main" id="{CA9AEC91-6680-EC9B-4A9C-CEE9DEEB06ED}"/>
                </a:ext>
              </a:extLst>
            </p:cNvPr>
            <p:cNvSpPr txBox="1">
              <a:spLocks/>
            </p:cNvSpPr>
            <p:nvPr/>
          </p:nvSpPr>
          <p:spPr>
            <a:xfrm>
              <a:off x="266411" y="1280844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один поток</a:t>
              </a:r>
            </a:p>
            <a:p>
              <a:endParaRPr lang="en-US" sz="1200" dirty="0"/>
            </a:p>
          </p:txBody>
        </p:sp>
        <p:sp>
          <p:nvSpPr>
            <p:cNvPr id="13" name="Подзаголовок 22">
              <a:extLst>
                <a:ext uri="{FF2B5EF4-FFF2-40B4-BE49-F238E27FC236}">
                  <a16:creationId xmlns:a16="http://schemas.microsoft.com/office/drawing/2014/main" id="{9708314A-A319-10B9-ABB3-B2FA72F964D3}"/>
                </a:ext>
              </a:extLst>
            </p:cNvPr>
            <p:cNvSpPr txBox="1">
              <a:spLocks/>
            </p:cNvSpPr>
            <p:nvPr/>
          </p:nvSpPr>
          <p:spPr>
            <a:xfrm>
              <a:off x="2378922" y="948403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Parallel</a:t>
              </a:r>
              <a:endParaRPr lang="ru-RU" dirty="0"/>
            </a:p>
          </p:txBody>
        </p: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36B54592-B50D-1F4C-ED84-90DDDF6996C9}"/>
                </a:ext>
              </a:extLst>
            </p:cNvPr>
            <p:cNvCxnSpPr>
              <a:cxnSpLocks/>
            </p:cNvCxnSpPr>
            <p:nvPr/>
          </p:nvCxnSpPr>
          <p:spPr>
            <a:xfrm>
              <a:off x="3313196" y="1297560"/>
              <a:ext cx="1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Google Shape;563;p34">
              <a:extLst>
                <a:ext uri="{FF2B5EF4-FFF2-40B4-BE49-F238E27FC236}">
                  <a16:creationId xmlns:a16="http://schemas.microsoft.com/office/drawing/2014/main" id="{928F4F33-F836-C2A4-1D38-1317E7E3B424}"/>
                </a:ext>
              </a:extLst>
            </p:cNvPr>
            <p:cNvSpPr txBox="1">
              <a:spLocks/>
            </p:cNvSpPr>
            <p:nvPr/>
          </p:nvSpPr>
          <p:spPr>
            <a:xfrm>
              <a:off x="3313197" y="1363888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Использует несколько потоков</a:t>
              </a:r>
            </a:p>
            <a:p>
              <a:endParaRPr lang="en-US" sz="1200" dirty="0"/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61CDAF53-1F95-285A-CFAB-7B0C50DD175A}"/>
                </a:ext>
              </a:extLst>
            </p:cNvPr>
            <p:cNvGrpSpPr/>
            <p:nvPr/>
          </p:nvGrpSpPr>
          <p:grpSpPr>
            <a:xfrm>
              <a:off x="2845594" y="1896111"/>
              <a:ext cx="2979358" cy="1329203"/>
              <a:chOff x="204327" y="2093447"/>
              <a:chExt cx="2979358" cy="1329203"/>
            </a:xfrm>
          </p:grpSpPr>
          <p:sp>
            <p:nvSpPr>
              <p:cNvPr id="22" name="Подзаголовок 22">
                <a:extLst>
                  <a:ext uri="{FF2B5EF4-FFF2-40B4-BE49-F238E27FC236}">
                    <a16:creationId xmlns:a16="http://schemas.microsoft.com/office/drawing/2014/main" id="{C734D961-F4B3-ED32-7FB9-A845BA65A3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4327" y="2093447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24" name="Google Shape;563;p34">
                <a:extLst>
                  <a:ext uri="{FF2B5EF4-FFF2-40B4-BE49-F238E27FC236}">
                    <a16:creationId xmlns:a16="http://schemas.microsoft.com/office/drawing/2014/main" id="{E48DFCDA-554E-87CF-4856-2CDCDAF000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417034"/>
                <a:ext cx="2450448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Работа со средними и большими наборами данных</a:t>
                </a:r>
              </a:p>
              <a:p>
                <a:pPr algn="l"/>
                <a:endParaRPr lang="ru-RU" sz="1200" b="0" dirty="0"/>
              </a:p>
              <a:p>
                <a:pPr algn="l"/>
                <a:r>
                  <a:rPr lang="ru-RU" sz="1200" b="0" dirty="0"/>
                  <a:t>Если важна скорость</a:t>
                </a:r>
                <a:r>
                  <a:rPr lang="en-US" sz="1200" b="0" dirty="0"/>
                  <a:t>,</a:t>
                </a:r>
                <a:r>
                  <a:rPr lang="ru-RU" sz="1200" b="0" dirty="0"/>
                  <a:t> паузы </a:t>
                </a:r>
                <a:r>
                  <a:rPr lang="en-US" sz="1200" b="0" dirty="0"/>
                  <a:t>&lt;=1 </a:t>
                </a:r>
                <a:r>
                  <a:rPr lang="ru-RU" sz="1200" b="0" dirty="0"/>
                  <a:t>сек</a:t>
                </a:r>
              </a:p>
              <a:p>
                <a:pPr algn="l"/>
                <a:endParaRPr lang="ru-RU" sz="1200" b="0" dirty="0"/>
              </a:p>
            </p:txBody>
          </p: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396EC3DB-5353-80D0-CDFB-B4C996F43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899888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Подзаголовок 22">
              <a:extLst>
                <a:ext uri="{FF2B5EF4-FFF2-40B4-BE49-F238E27FC236}">
                  <a16:creationId xmlns:a16="http://schemas.microsoft.com/office/drawing/2014/main" id="{1EFDDEA8-B556-2B75-3935-C1C92B08963C}"/>
                </a:ext>
              </a:extLst>
            </p:cNvPr>
            <p:cNvSpPr txBox="1">
              <a:spLocks/>
            </p:cNvSpPr>
            <p:nvPr/>
          </p:nvSpPr>
          <p:spPr>
            <a:xfrm>
              <a:off x="4778862" y="902188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G1</a:t>
              </a:r>
              <a:endParaRPr lang="ru-RU" dirty="0"/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C2BF6D37-CCA4-C720-E56C-08EB63C4D8B0}"/>
                </a:ext>
              </a:extLst>
            </p:cNvPr>
            <p:cNvCxnSpPr>
              <a:cxnSpLocks/>
            </p:cNvCxnSpPr>
            <p:nvPr/>
          </p:nvCxnSpPr>
          <p:spPr>
            <a:xfrm>
              <a:off x="6051483" y="1297560"/>
              <a:ext cx="2667" cy="620459"/>
            </a:xfrm>
            <a:prstGeom prst="line">
              <a:avLst/>
            </a:prstGeom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Google Shape;563;p34">
              <a:extLst>
                <a:ext uri="{FF2B5EF4-FFF2-40B4-BE49-F238E27FC236}">
                  <a16:creationId xmlns:a16="http://schemas.microsoft.com/office/drawing/2014/main" id="{481BA758-49FC-7265-51F6-525F9E77BAE3}"/>
                </a:ext>
              </a:extLst>
            </p:cNvPr>
            <p:cNvSpPr txBox="1">
              <a:spLocks/>
            </p:cNvSpPr>
            <p:nvPr/>
          </p:nvSpPr>
          <p:spPr>
            <a:xfrm>
              <a:off x="6009033" y="1213172"/>
              <a:ext cx="1718877" cy="48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Sora"/>
                <a:buNone/>
                <a:defRPr sz="3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pPr algn="l"/>
              <a:r>
                <a:rPr lang="ru-RU" sz="1200" b="0" dirty="0"/>
                <a:t>Работает параллельно с программой</a:t>
              </a:r>
            </a:p>
            <a:p>
              <a:endParaRPr lang="en-US" sz="1200" dirty="0"/>
            </a:p>
          </p:txBody>
        </p: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0479DB38-885D-0719-DA48-7092723E4354}"/>
                </a:ext>
              </a:extLst>
            </p:cNvPr>
            <p:cNvGrpSpPr/>
            <p:nvPr/>
          </p:nvGrpSpPr>
          <p:grpSpPr>
            <a:xfrm>
              <a:off x="5560563" y="1948804"/>
              <a:ext cx="2979358" cy="1162402"/>
              <a:chOff x="165311" y="2015132"/>
              <a:chExt cx="2979358" cy="1162402"/>
            </a:xfrm>
          </p:grpSpPr>
          <p:sp>
            <p:nvSpPr>
              <p:cNvPr id="512" name="Подзаголовок 22">
                <a:extLst>
                  <a:ext uri="{FF2B5EF4-FFF2-40B4-BE49-F238E27FC236}">
                    <a16:creationId xmlns:a16="http://schemas.microsoft.com/office/drawing/2014/main" id="{31F7957E-31A8-980F-DA38-3937B04CF4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311" y="2015132"/>
                <a:ext cx="2979358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18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L="914400" marR="0" lvl="1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L="1371600" marR="0" lvl="2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L="1828800" marR="0" lvl="3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L="2286000" marR="0" lvl="4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L="2743200" marR="0" lvl="5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L="3200400" marR="0" lvl="6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L="3657600" marR="0" lvl="7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L="4114800" marR="0" lvl="8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Sora"/>
                  <a:buNone/>
                  <a:defRPr sz="2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r>
                  <a:rPr lang="ru-RU" dirty="0"/>
                  <a:t>Когда использовать?</a:t>
                </a:r>
              </a:p>
            </p:txBody>
          </p:sp>
          <p:sp>
            <p:nvSpPr>
              <p:cNvPr id="513" name="Google Shape;563;p34">
                <a:extLst>
                  <a:ext uri="{FF2B5EF4-FFF2-40B4-BE49-F238E27FC236}">
                    <a16:creationId xmlns:a16="http://schemas.microsoft.com/office/drawing/2014/main" id="{25CD6BBC-E74D-2C3F-F53A-D387332783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781" y="2507617"/>
                <a:ext cx="22470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000"/>
                  <a:buFont typeface="Sora"/>
                  <a:buNone/>
                  <a:defRPr sz="3000" b="1" i="0" u="none" strike="noStrike" cap="none">
                    <a:solidFill>
                      <a:schemeClr val="dk1"/>
                    </a:solidFill>
                    <a:latin typeface="Sora"/>
                    <a:ea typeface="Sora"/>
                    <a:cs typeface="Sora"/>
                    <a:sym typeface="Sora"/>
                  </a:defRPr>
                </a:lvl9pPr>
              </a:lstStyle>
              <a:p>
                <a:pPr algn="l"/>
                <a:r>
                  <a:rPr lang="ru-RU" sz="1200" b="0" dirty="0"/>
                  <a:t>Когда важна скорость отклика</a:t>
                </a:r>
                <a:r>
                  <a:rPr lang="en-US" sz="1200" b="0" dirty="0"/>
                  <a:t>, </a:t>
                </a:r>
                <a:r>
                  <a:rPr lang="ru-RU" sz="1200" b="0" dirty="0"/>
                  <a:t>пауза</a:t>
                </a:r>
                <a:r>
                  <a:rPr lang="en-US" sz="1200" b="0" dirty="0"/>
                  <a:t> &lt; 1 </a:t>
                </a:r>
                <a:r>
                  <a:rPr lang="ru-RU" sz="1200" b="0" dirty="0"/>
                  <a:t>сек</a:t>
                </a:r>
              </a:p>
              <a:p>
                <a:endParaRPr lang="en-US" sz="1200" dirty="0"/>
              </a:p>
            </p:txBody>
          </p:sp>
          <p:cxnSp>
            <p:nvCxnSpPr>
              <p:cNvPr id="514" name="Прямая соединительная линия 513">
                <a:extLst>
                  <a:ext uri="{FF2B5EF4-FFF2-40B4-BE49-F238E27FC236}">
                    <a16:creationId xmlns:a16="http://schemas.microsoft.com/office/drawing/2014/main" id="{0F1001B8-8B88-70FC-C04C-DEA6120D6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7605" y="2522762"/>
                <a:ext cx="2110" cy="654772"/>
              </a:xfrm>
              <a:prstGeom prst="line">
                <a:avLst/>
              </a:prstGeom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0" name="Подзаголовок 22">
              <a:extLst>
                <a:ext uri="{FF2B5EF4-FFF2-40B4-BE49-F238E27FC236}">
                  <a16:creationId xmlns:a16="http://schemas.microsoft.com/office/drawing/2014/main" id="{D7B83D28-FA22-9D73-6C69-54DA385375F8}"/>
                </a:ext>
              </a:extLst>
            </p:cNvPr>
            <p:cNvSpPr txBox="1">
              <a:spLocks/>
            </p:cNvSpPr>
            <p:nvPr/>
          </p:nvSpPr>
          <p:spPr>
            <a:xfrm>
              <a:off x="579939" y="3183586"/>
              <a:ext cx="2537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18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Sora"/>
                <a:buNone/>
                <a:defRPr sz="2000" b="1" i="0" u="none" strike="noStrike" cap="none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defRPr>
              </a:lvl9pPr>
            </a:lstStyle>
            <a:p>
              <a:r>
                <a:rPr lang="en-US" dirty="0"/>
                <a:t>ZGC</a:t>
              </a:r>
              <a:endParaRPr lang="ru-RU" dirty="0"/>
            </a:p>
          </p:txBody>
        </p:sp>
      </p:grpSp>
      <p:cxnSp>
        <p:nvCxnSpPr>
          <p:cNvPr id="571" name="Прямая соединительная линия 570">
            <a:extLst>
              <a:ext uri="{FF2B5EF4-FFF2-40B4-BE49-F238E27FC236}">
                <a16:creationId xmlns:a16="http://schemas.microsoft.com/office/drawing/2014/main" id="{EC959169-6144-1178-3ACF-6B32FAB71267}"/>
              </a:ext>
            </a:extLst>
          </p:cNvPr>
          <p:cNvCxnSpPr>
            <a:cxnSpLocks/>
          </p:cNvCxnSpPr>
          <p:nvPr/>
        </p:nvCxnSpPr>
        <p:spPr>
          <a:xfrm>
            <a:off x="1753733" y="3589141"/>
            <a:ext cx="1" cy="620459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" name="Google Shape;563;p34">
            <a:extLst>
              <a:ext uri="{FF2B5EF4-FFF2-40B4-BE49-F238E27FC236}">
                <a16:creationId xmlns:a16="http://schemas.microsoft.com/office/drawing/2014/main" id="{5429D448-13A7-765E-2265-E26504C324B6}"/>
              </a:ext>
            </a:extLst>
          </p:cNvPr>
          <p:cNvSpPr txBox="1">
            <a:spLocks/>
          </p:cNvSpPr>
          <p:nvPr/>
        </p:nvSpPr>
        <p:spPr>
          <a:xfrm>
            <a:off x="1696583" y="3525930"/>
            <a:ext cx="1718877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Почти не останавливает программу</a:t>
            </a:r>
          </a:p>
          <a:p>
            <a:endParaRPr lang="en-US" sz="1200" dirty="0"/>
          </a:p>
        </p:txBody>
      </p:sp>
      <p:sp>
        <p:nvSpPr>
          <p:cNvPr id="574" name="Подзаголовок 22">
            <a:extLst>
              <a:ext uri="{FF2B5EF4-FFF2-40B4-BE49-F238E27FC236}">
                <a16:creationId xmlns:a16="http://schemas.microsoft.com/office/drawing/2014/main" id="{E85596E7-A06A-F46E-AD97-50C283370E76}"/>
              </a:ext>
            </a:extLst>
          </p:cNvPr>
          <p:cNvSpPr txBox="1">
            <a:spLocks/>
          </p:cNvSpPr>
          <p:nvPr/>
        </p:nvSpPr>
        <p:spPr>
          <a:xfrm>
            <a:off x="2744004" y="3226051"/>
            <a:ext cx="2979358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ra"/>
              <a:buNone/>
              <a:defRPr sz="2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ru-RU" dirty="0"/>
              <a:t>Когда использовать?</a:t>
            </a:r>
          </a:p>
        </p:txBody>
      </p:sp>
      <p:sp>
        <p:nvSpPr>
          <p:cNvPr id="575" name="Google Shape;563;p34">
            <a:extLst>
              <a:ext uri="{FF2B5EF4-FFF2-40B4-BE49-F238E27FC236}">
                <a16:creationId xmlns:a16="http://schemas.microsoft.com/office/drawing/2014/main" id="{A2A20DD1-0C65-6265-FD48-7C050BC6DF45}"/>
              </a:ext>
            </a:extLst>
          </p:cNvPr>
          <p:cNvSpPr txBox="1">
            <a:spLocks/>
          </p:cNvSpPr>
          <p:nvPr/>
        </p:nvSpPr>
        <p:spPr>
          <a:xfrm>
            <a:off x="3144667" y="3644345"/>
            <a:ext cx="2450448" cy="48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l"/>
            <a:r>
              <a:rPr lang="ru-RU" sz="1200" b="0" dirty="0"/>
              <a:t>Для быстрых систем (биржи</a:t>
            </a:r>
            <a:r>
              <a:rPr lang="en-US" sz="1200" b="0" dirty="0"/>
              <a:t>, </a:t>
            </a:r>
            <a:r>
              <a:rPr lang="ru-RU" sz="1200" b="0" dirty="0"/>
              <a:t>игры)</a:t>
            </a:r>
            <a:r>
              <a:rPr lang="en-US" sz="1200" b="0" dirty="0"/>
              <a:t>,</a:t>
            </a:r>
            <a:r>
              <a:rPr lang="ru-RU" sz="1200" b="0" dirty="0"/>
              <a:t> где важна каждая миллисекунда.</a:t>
            </a:r>
          </a:p>
          <a:p>
            <a:endParaRPr lang="en-US" sz="1200" dirty="0"/>
          </a:p>
        </p:txBody>
      </p:sp>
      <p:cxnSp>
        <p:nvCxnSpPr>
          <p:cNvPr id="576" name="Прямая соединительная линия 575">
            <a:extLst>
              <a:ext uri="{FF2B5EF4-FFF2-40B4-BE49-F238E27FC236}">
                <a16:creationId xmlns:a16="http://schemas.microsoft.com/office/drawing/2014/main" id="{B0CEF54F-14A6-24F2-501F-49680ED91A23}"/>
              </a:ext>
            </a:extLst>
          </p:cNvPr>
          <p:cNvCxnSpPr>
            <a:cxnSpLocks/>
          </p:cNvCxnSpPr>
          <p:nvPr/>
        </p:nvCxnSpPr>
        <p:spPr>
          <a:xfrm>
            <a:off x="3168491" y="3652833"/>
            <a:ext cx="2110" cy="654772"/>
          </a:xfrm>
          <a:prstGeom prst="line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6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3BFD79E0-9212-F928-EEC4-DEEFE3CE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426FDFBD-7D8E-AD0E-0812-84346402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BFCE012-B554-B790-B985-73EE3F233818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4DF7DED-51B4-E083-F112-8050D8824A54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C7FEA65-AB54-41F0-1940-50212FB73798}"/>
              </a:ext>
            </a:extLst>
          </p:cNvPr>
          <p:cNvSpPr/>
          <p:nvPr/>
        </p:nvSpPr>
        <p:spPr>
          <a:xfrm>
            <a:off x="448234" y="1820376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Xms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62F9DA5-BD2E-F9F6-CC6A-CAB330DDC888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Xmx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F2C4566-3A3C-8ED0-2A1A-580D9D522B2B}"/>
              </a:ext>
            </a:extLst>
          </p:cNvPr>
          <p:cNvSpPr/>
          <p:nvPr/>
        </p:nvSpPr>
        <p:spPr>
          <a:xfrm>
            <a:off x="448235" y="3374401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XX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: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NewRatio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51A8969-A03E-C00A-8CF1-230C2AC8C304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 начальный размер кучи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-Xms256m</a:t>
            </a:r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 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FB3BF29-51DC-9750-D1E1-FD522A65A9A3}"/>
              </a:ext>
            </a:extLst>
          </p:cNvPr>
          <p:cNvSpPr/>
          <p:nvPr/>
        </p:nvSpPr>
        <p:spPr>
          <a:xfrm>
            <a:off x="4571999" y="2571750"/>
            <a:ext cx="341555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 максимальный размер кучи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Xm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x2g</a:t>
            </a:r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 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FFDF007-134A-81ED-5196-BD76BE624682}"/>
              </a:ext>
            </a:extLst>
          </p:cNvPr>
          <p:cNvSpPr/>
          <p:nvPr/>
        </p:nvSpPr>
        <p:spPr>
          <a:xfrm>
            <a:off x="4571999" y="3395461"/>
            <a:ext cx="3478307" cy="73031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,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во сколько раз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 Old 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больше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Young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XX:NewRatio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=2 </a:t>
            </a:r>
          </a:p>
        </p:txBody>
      </p:sp>
    </p:spTree>
    <p:extLst>
      <p:ext uri="{BB962C8B-B14F-4D97-AF65-F5344CB8AC3E}">
        <p14:creationId xmlns:p14="http://schemas.microsoft.com/office/powerpoint/2010/main" val="396761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423ABE06-5D41-2DD2-75A9-B1EF1CF4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917EE080-C8FA-8FCB-642B-F4C3D751F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CC145E1-AACC-1F8E-F5E4-F8BBD62CD7EE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C1538C3-9ACB-FED5-8E4E-A75DA69CC278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AF7F156-2015-175F-70D3-DAFC77E96AC7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XX:SurvivorRatio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CAC2931-E420-44A5-A6CF-47356AEA0DA6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XX:MaxTenuringThreshold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4C246D4-E1AE-A6F1-937E-FB995FC116CA}"/>
              </a:ext>
            </a:extLst>
          </p:cNvPr>
          <p:cNvSpPr/>
          <p:nvPr/>
        </p:nvSpPr>
        <p:spPr>
          <a:xfrm>
            <a:off x="448235" y="3374401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-XX:+UseG1GC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A195816-CD9F-1D05-D2B4-3669410AAC3D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Задает, во сколько раз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Eden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больше каждого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Survivor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F7B43ED-06DC-A3F1-51B8-BA6EF8DD3C55}"/>
              </a:ext>
            </a:extLst>
          </p:cNvPr>
          <p:cNvSpPr/>
          <p:nvPr/>
        </p:nvSpPr>
        <p:spPr>
          <a:xfrm>
            <a:off x="4571998" y="2520473"/>
            <a:ext cx="3415551" cy="71578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Задает, после скольких сборок объект перемещается в Old.</a:t>
            </a:r>
          </a:p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XX:MaxTenuringThreshold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=15 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2E2D903C-0AD2-1C91-E2D5-338880334CF2}"/>
              </a:ext>
            </a:extLst>
          </p:cNvPr>
          <p:cNvSpPr/>
          <p:nvPr/>
        </p:nvSpPr>
        <p:spPr>
          <a:xfrm>
            <a:off x="4571996" y="3374401"/>
            <a:ext cx="341555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сборщик мусора G1 (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Garbage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-First)</a:t>
            </a:r>
          </a:p>
        </p:txBody>
      </p:sp>
    </p:spTree>
    <p:extLst>
      <p:ext uri="{BB962C8B-B14F-4D97-AF65-F5344CB8AC3E}">
        <p14:creationId xmlns:p14="http://schemas.microsoft.com/office/powerpoint/2010/main" val="175249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11D13317-2C68-4C45-7C6F-47661D31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E9565894-7640-3128-A07F-2773985B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Параметры JVM для настройки GC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65471E4C-4288-11BB-48FF-61800EC2B6E3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BC36493-1769-62CE-0166-4C2F315F911A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делает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45F0DD-B08C-134A-97CD-C257EF294DE2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UseParallelGC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 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0976616-B167-2992-654D-250371619C94}"/>
              </a:ext>
            </a:extLst>
          </p:cNvPr>
          <p:cNvSpPr/>
          <p:nvPr/>
        </p:nvSpPr>
        <p:spPr>
          <a:xfrm>
            <a:off x="448235" y="2571750"/>
            <a:ext cx="3227292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UseZGC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689F24D-1202-3884-1FB7-460F0AC61521}"/>
              </a:ext>
            </a:extLst>
          </p:cNvPr>
          <p:cNvSpPr/>
          <p:nvPr/>
        </p:nvSpPr>
        <p:spPr>
          <a:xfrm>
            <a:off x="448235" y="3374401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-XX:+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PrintGCDetails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Xlog:gc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06F69C-1376-3C06-EB8E-B6A4204FDFD3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</a:t>
            </a:r>
            <a:r>
              <a:rPr lang="ru-RU" b="1" dirty="0" err="1">
                <a:solidFill>
                  <a:schemeClr val="bg1">
                    <a:lumMod val="10000"/>
                  </a:schemeClr>
                </a:solidFill>
              </a:rPr>
              <a:t>Parallel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 GC — многопоточный сборщик мусора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C08EC595-8E74-1B16-0828-A2A7A62BEEC3}"/>
              </a:ext>
            </a:extLst>
          </p:cNvPr>
          <p:cNvSpPr/>
          <p:nvPr/>
        </p:nvSpPr>
        <p:spPr>
          <a:xfrm>
            <a:off x="4571998" y="2520473"/>
            <a:ext cx="3415551" cy="6239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ZGC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—сборщик мусора</a:t>
            </a: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для быстрых систем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43D10987-3E88-EA73-1C1B-F1C328B9604D}"/>
              </a:ext>
            </a:extLst>
          </p:cNvPr>
          <p:cNvSpPr/>
          <p:nvPr/>
        </p:nvSpPr>
        <p:spPr>
          <a:xfrm>
            <a:off x="4571997" y="3374400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Включает вывод подробной информации о работе сборщика мусора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5CF211-4D57-5AA8-2660-6D3D30C5B62F}"/>
              </a:ext>
            </a:extLst>
          </p:cNvPr>
          <p:cNvSpPr/>
          <p:nvPr/>
        </p:nvSpPr>
        <p:spPr>
          <a:xfrm>
            <a:off x="448235" y="4249391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C394C8C-9E98-283B-BC63-C5A8CC81E4CA}"/>
              </a:ext>
            </a:extLst>
          </p:cNvPr>
          <p:cNvSpPr/>
          <p:nvPr/>
        </p:nvSpPr>
        <p:spPr>
          <a:xfrm>
            <a:off x="4571997" y="4255343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sz="1200" b="1" dirty="0">
                <a:solidFill>
                  <a:schemeClr val="bg1">
                    <a:lumMod val="10000"/>
                  </a:schemeClr>
                </a:solidFill>
              </a:rPr>
              <a:t>Задает целевое время паузы сборщика мусора в миллисекундах</a:t>
            </a: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sz="1200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=100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8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>
          <a:extLst>
            <a:ext uri="{FF2B5EF4-FFF2-40B4-BE49-F238E27FC236}">
              <a16:creationId xmlns:a16="http://schemas.microsoft.com/office/drawing/2014/main" id="{F4ACFCEB-7C09-7124-833A-C2B514DB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Заголовок 560">
            <a:extLst>
              <a:ext uri="{FF2B5EF4-FFF2-40B4-BE49-F238E27FC236}">
                <a16:creationId xmlns:a16="http://schemas.microsoft.com/office/drawing/2014/main" id="{5DAF0FE0-62B0-4470-DE84-6E22FE34E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282" y="194013"/>
            <a:ext cx="7704000" cy="572700"/>
          </a:xfrm>
        </p:spPr>
        <p:txBody>
          <a:bodyPr/>
          <a:lstStyle/>
          <a:p>
            <a:r>
              <a:rPr lang="ru-RU" dirty="0"/>
              <a:t>Типы ссылок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E864629-13E1-7016-F7A5-8A9B7A7ADC44}"/>
              </a:ext>
            </a:extLst>
          </p:cNvPr>
          <p:cNvSpPr/>
          <p:nvPr/>
        </p:nvSpPr>
        <p:spPr>
          <a:xfrm>
            <a:off x="448235" y="1017725"/>
            <a:ext cx="3227294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Тип ссылки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CACDA8C-6944-D7C6-A80B-0DB6AEADA3DE}"/>
              </a:ext>
            </a:extLst>
          </p:cNvPr>
          <p:cNvSpPr/>
          <p:nvPr/>
        </p:nvSpPr>
        <p:spPr>
          <a:xfrm>
            <a:off x="4572000" y="1017725"/>
            <a:ext cx="3415550" cy="572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Как влияет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E5964A8-919A-3E12-CDA9-7F62307F23F1}"/>
              </a:ext>
            </a:extLst>
          </p:cNvPr>
          <p:cNvSpPr/>
          <p:nvPr/>
        </p:nvSpPr>
        <p:spPr>
          <a:xfrm>
            <a:off x="448234" y="1841437"/>
            <a:ext cx="3227293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STRONG REFERENCE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Object obj = new Object();</a:t>
            </a:r>
          </a:p>
          <a:p>
            <a:pPr algn="ctr"/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015BD13-5487-076B-C5C9-E168CD9841A5}"/>
              </a:ext>
            </a:extLst>
          </p:cNvPr>
          <p:cNvSpPr/>
          <p:nvPr/>
        </p:nvSpPr>
        <p:spPr>
          <a:xfrm>
            <a:off x="448235" y="2571750"/>
            <a:ext cx="3227292" cy="80265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WEAK REFERENCE</a:t>
            </a:r>
            <a:endParaRPr lang="ru-RU" sz="1200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1200" dirty="0" err="1">
                <a:solidFill>
                  <a:schemeClr val="bg1">
                    <a:lumMod val="10000"/>
                  </a:schemeClr>
                </a:solidFill>
              </a:rPr>
              <a:t>WeakReference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</a:rPr>
              <a:t>&lt;Object&gt; weak = new </a:t>
            </a:r>
            <a:r>
              <a:rPr lang="en-US" sz="1200" dirty="0" err="1">
                <a:solidFill>
                  <a:schemeClr val="bg1">
                    <a:lumMod val="10000"/>
                  </a:schemeClr>
                </a:solidFill>
              </a:rPr>
              <a:t>WeakReference</a:t>
            </a:r>
            <a:r>
              <a:rPr lang="en-US" sz="1200" dirty="0">
                <a:solidFill>
                  <a:schemeClr val="bg1">
                    <a:lumMod val="10000"/>
                  </a:schemeClr>
                </a:solidFill>
              </a:rPr>
              <a:t>&lt;&gt;(obj);</a:t>
            </a:r>
          </a:p>
          <a:p>
            <a:pPr algn="ctr"/>
            <a:endParaRPr lang="en-US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D67026B-D953-1086-7B48-F07424376214}"/>
              </a:ext>
            </a:extLst>
          </p:cNvPr>
          <p:cNvSpPr/>
          <p:nvPr/>
        </p:nvSpPr>
        <p:spPr>
          <a:xfrm>
            <a:off x="448234" y="3461847"/>
            <a:ext cx="3227292" cy="70009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SOFT REFERENCE</a:t>
            </a:r>
          </a:p>
          <a:p>
            <a:pPr algn="ctr"/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SoftReference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&lt;Object&gt; soft = new </a:t>
            </a:r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SoftReference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&lt;&gt;(obj);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-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D532C542-0E08-022A-E9A0-5AA198654749}"/>
              </a:ext>
            </a:extLst>
          </p:cNvPr>
          <p:cNvSpPr/>
          <p:nvPr/>
        </p:nvSpPr>
        <p:spPr>
          <a:xfrm>
            <a:off x="4572000" y="1769099"/>
            <a:ext cx="3415551" cy="5727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Объект жив, пока есть ссылка</a:t>
            </a:r>
            <a:r>
              <a:rPr lang="ru-RU" i="1" dirty="0"/>
              <a:t>.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E71F0C9-50D8-486E-C8CB-B3F21260A550}"/>
              </a:ext>
            </a:extLst>
          </p:cNvPr>
          <p:cNvSpPr/>
          <p:nvPr/>
        </p:nvSpPr>
        <p:spPr>
          <a:xfrm>
            <a:off x="4571998" y="2520473"/>
            <a:ext cx="3415551" cy="62397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i="1" dirty="0">
                <a:solidFill>
                  <a:schemeClr val="bg1">
                    <a:lumMod val="10000"/>
                  </a:schemeClr>
                </a:solidFill>
              </a:rPr>
              <a:t>GC удаляет при первой же сборке</a:t>
            </a:r>
            <a:r>
              <a:rPr lang="ru-RU" i="1" dirty="0"/>
              <a:t>.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65E4FC5-C56F-DF5C-AAFD-B581A745B3F3}"/>
              </a:ext>
            </a:extLst>
          </p:cNvPr>
          <p:cNvSpPr/>
          <p:nvPr/>
        </p:nvSpPr>
        <p:spPr>
          <a:xfrm>
            <a:off x="4571997" y="3374400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b="1" dirty="0">
                <a:solidFill>
                  <a:schemeClr val="bg1">
                    <a:lumMod val="10000"/>
                  </a:schemeClr>
                </a:solidFill>
              </a:rPr>
              <a:t>Удаляет при </a:t>
            </a:r>
            <a:r>
              <a:rPr lang="ru-RU" b="1">
                <a:solidFill>
                  <a:schemeClr val="bg1">
                    <a:lumMod val="10000"/>
                  </a:schemeClr>
                </a:solidFill>
              </a:rPr>
              <a:t>нехватке памяти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BCF4348-996E-AD5F-6A6E-9BAA944F5065}"/>
              </a:ext>
            </a:extLst>
          </p:cNvPr>
          <p:cNvSpPr/>
          <p:nvPr/>
        </p:nvSpPr>
        <p:spPr>
          <a:xfrm>
            <a:off x="448234" y="4249390"/>
            <a:ext cx="3697045" cy="802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PHANTOM REFERENCE</a:t>
            </a:r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PhantomReference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&lt;Object&gt; phantom = new </a:t>
            </a:r>
            <a:r>
              <a:rPr lang="en-US" i="1" dirty="0" err="1">
                <a:solidFill>
                  <a:schemeClr val="bg1">
                    <a:lumMod val="10000"/>
                  </a:schemeClr>
                </a:solidFill>
              </a:rPr>
              <a:t>PhantomReference</a:t>
            </a:r>
            <a:r>
              <a:rPr lang="en-US" i="1" dirty="0">
                <a:solidFill>
                  <a:schemeClr val="bg1">
                    <a:lumMod val="10000"/>
                  </a:schemeClr>
                </a:solidFill>
              </a:rPr>
              <a:t>&lt;&gt;(obj, queue);</a:t>
            </a:r>
          </a:p>
          <a:p>
            <a:pPr algn="ctr"/>
            <a:endParaRPr lang="ru-RU" b="1" i="1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A9AEB7B-7696-4137-F8A7-A65DB12FD20E}"/>
              </a:ext>
            </a:extLst>
          </p:cNvPr>
          <p:cNvSpPr/>
          <p:nvPr/>
        </p:nvSpPr>
        <p:spPr>
          <a:xfrm>
            <a:off x="4571997" y="4255343"/>
            <a:ext cx="3415550" cy="70009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 </a:t>
            </a:r>
            <a:r>
              <a:rPr lang="ru-RU" i="1" dirty="0"/>
              <a:t> </a:t>
            </a:r>
            <a:r>
              <a:rPr lang="ru-RU" sz="1200" b="1" dirty="0">
                <a:solidFill>
                  <a:schemeClr val="bg1">
                    <a:lumMod val="10000"/>
                  </a:schemeClr>
                </a:solidFill>
              </a:rPr>
              <a:t>Задает целевое время паузы сборщика мусора в миллисекундах</a:t>
            </a:r>
          </a:p>
          <a:p>
            <a:pPr algn="ctr"/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-</a:t>
            </a:r>
            <a:r>
              <a:rPr lang="en-US" sz="1200" b="1" dirty="0" err="1">
                <a:solidFill>
                  <a:schemeClr val="bg1">
                    <a:lumMod val="10000"/>
                  </a:schemeClr>
                </a:solidFill>
              </a:rPr>
              <a:t>XX:MaxGCPauseMillis</a:t>
            </a:r>
            <a:r>
              <a:rPr lang="en-US" sz="1200" b="1" dirty="0">
                <a:solidFill>
                  <a:schemeClr val="bg1">
                    <a:lumMod val="10000"/>
                  </a:schemeClr>
                </a:solidFill>
              </a:rPr>
              <a:t>=100</a:t>
            </a:r>
          </a:p>
          <a:p>
            <a:pPr algn="ctr"/>
            <a:endParaRPr lang="ru-RU" b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56858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</TotalTime>
  <Words>545</Words>
  <Application>Microsoft Office PowerPoint</Application>
  <PresentationFormat>Экран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Sora</vt:lpstr>
      <vt:lpstr>Arial</vt:lpstr>
      <vt:lpstr>Assistant</vt:lpstr>
      <vt:lpstr>Clean Aesthetic Style Marketing Plan by Slidesgo</vt:lpstr>
      <vt:lpstr>Сборщик мусора в Java</vt:lpstr>
      <vt:lpstr>Структура памяти в Java</vt:lpstr>
      <vt:lpstr>Что такое мусор?</vt:lpstr>
      <vt:lpstr>Сборка мусора: процесс</vt:lpstr>
      <vt:lpstr>Типы сборщиков мусора</vt:lpstr>
      <vt:lpstr>Параметры JVM для настройки GC</vt:lpstr>
      <vt:lpstr>Параметры JVM для настройки GC</vt:lpstr>
      <vt:lpstr>Параметры JVM для настройки GC</vt:lpstr>
      <vt:lpstr>Типы ссылок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Виолетта Енченкова</dc:creator>
  <cp:lastModifiedBy>Виолетта Енченкова</cp:lastModifiedBy>
  <cp:revision>4</cp:revision>
  <dcterms:modified xsi:type="dcterms:W3CDTF">2026-03-27T13:57:47Z</dcterms:modified>
</cp:coreProperties>
</file>